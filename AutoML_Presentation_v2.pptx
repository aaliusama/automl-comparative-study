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21" d="100"/>
          <a:sy n="121" d="100"/>
        </p:scale>
        <p:origin x="351"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015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zipcode</a:t>
            </a:r>
            <a:r>
              <a:rPr lang="en-US" dirty="0"/>
              <a:t> (1.3% missing), we used median imputation. Given the low missingness rate and numeric encoding for downstream processing, median imputation provides a simple, robust approach that preserves the distribution without introducing artificial relationships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plot shows the </a:t>
            </a:r>
            <a:r>
              <a:rPr lang="en-US" sz="1200" b="1" kern="1200" dirty="0">
                <a:solidFill>
                  <a:schemeClr val="tx1"/>
                </a:solidFill>
                <a:effectLst/>
                <a:latin typeface="+mn-lt"/>
                <a:ea typeface="+mn-ea"/>
                <a:cs typeface="+mn-cs"/>
              </a:rPr>
              <a:t>**Simulated Annealing convergence behavior**</a:t>
            </a:r>
            <a:r>
              <a:rPr lang="en-US" sz="1200" b="0" kern="1200" dirty="0">
                <a:solidFill>
                  <a:schemeClr val="tx1"/>
                </a:solidFill>
                <a:effectLst/>
                <a:latin typeface="+mn-lt"/>
                <a:ea typeface="+mn-ea"/>
                <a:cs typeface="+mn-cs"/>
              </a:rPr>
              <a:t> for both datasets: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Key Observations: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Airbnb:</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**High exploration phase**</a:t>
            </a:r>
            <a:r>
              <a:rPr lang="en-US" sz="1200" b="0" kern="1200" dirty="0">
                <a:solidFill>
                  <a:schemeClr val="tx1"/>
                </a:solidFill>
                <a:effectLst/>
                <a:latin typeface="+mn-lt"/>
                <a:ea typeface="+mn-ea"/>
                <a:cs typeface="+mn-cs"/>
              </a:rPr>
              <a:t> (iterations 0-40): Large fluctuations in RMSE as SA explores different algorithms/hyperparameters at high temperature</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**Gradual convergence**</a:t>
            </a:r>
            <a:r>
              <a:rPr lang="en-US" sz="1200" b="0" kern="1200" dirty="0">
                <a:solidFill>
                  <a:schemeClr val="tx1"/>
                </a:solidFill>
                <a:effectLst/>
                <a:latin typeface="+mn-lt"/>
                <a:ea typeface="+mn-ea"/>
                <a:cs typeface="+mn-cs"/>
              </a:rPr>
              <a:t> (iterations 40-140): Temperature decreases, exploration reduces, SA exploits good solutions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**Final solution**</a:t>
            </a:r>
            <a:r>
              <a:rPr lang="en-US" sz="1200" b="0" kern="1200" dirty="0">
                <a:solidFill>
                  <a:schemeClr val="tx1"/>
                </a:solidFill>
                <a:effectLst/>
                <a:latin typeface="+mn-lt"/>
                <a:ea typeface="+mn-ea"/>
                <a:cs typeface="+mn-cs"/>
              </a:rPr>
              <a:t>: RMSE = 0.3839 after ~160 iterations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**Behavior**</a:t>
            </a:r>
            <a:r>
              <a:rPr lang="en-US" sz="1200" b="0" kern="1200" dirty="0">
                <a:solidFill>
                  <a:schemeClr val="tx1"/>
                </a:solidFill>
                <a:effectLst/>
                <a:latin typeface="+mn-lt"/>
                <a:ea typeface="+mn-ea"/>
                <a:cs typeface="+mn-cs"/>
              </a:rPr>
              <a:t>: Classic SA pattern - starts chaotic, gradually stabilizes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Insurance: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**Immediate convergence**</a:t>
            </a:r>
            <a:r>
              <a:rPr lang="en-US" sz="1200" b="0" kern="1200" dirty="0">
                <a:solidFill>
                  <a:schemeClr val="tx1"/>
                </a:solidFill>
                <a:effectLst/>
                <a:latin typeface="+mn-lt"/>
                <a:ea typeface="+mn-ea"/>
                <a:cs typeface="+mn-cs"/>
              </a:rPr>
              <a:t>: Found excellent solution (RMSE = 0.3746) almost instantly</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**Minimal exploration**</a:t>
            </a:r>
            <a:r>
              <a:rPr lang="en-US" sz="1200" b="0" kern="1200" dirty="0">
                <a:solidFill>
                  <a:schemeClr val="tx1"/>
                </a:solidFill>
                <a:effectLst/>
                <a:latin typeface="+mn-lt"/>
                <a:ea typeface="+mn-ea"/>
                <a:cs typeface="+mn-cs"/>
              </a:rPr>
              <a:t>: Nearly flat line after initial iterations</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**Stable temperature decay**</a:t>
            </a:r>
            <a:r>
              <a:rPr lang="en-US" sz="1200" b="0" kern="1200" dirty="0">
                <a:solidFill>
                  <a:schemeClr val="tx1"/>
                </a:solidFill>
                <a:effectLst/>
                <a:latin typeface="+mn-lt"/>
                <a:ea typeface="+mn-ea"/>
                <a:cs typeface="+mn-cs"/>
              </a:rPr>
              <a:t>: Smooth cooling curve</a:t>
            </a:r>
          </a:p>
          <a:p>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**Behavior**</a:t>
            </a:r>
            <a:r>
              <a:rPr lang="en-US" sz="1200" b="0" kern="1200" dirty="0">
                <a:solidFill>
                  <a:schemeClr val="tx1"/>
                </a:solidFill>
                <a:effectLst/>
                <a:latin typeface="+mn-lt"/>
                <a:ea typeface="+mn-ea"/>
                <a:cs typeface="+mn-cs"/>
              </a:rPr>
              <a:t>: Dataset is smaller/simpler, SA quickly found optimal solution and stayed there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Insights: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**Airbnb**</a:t>
            </a:r>
            <a:r>
              <a:rPr lang="en-US" sz="1200" b="0" kern="1200" dirty="0">
                <a:solidFill>
                  <a:schemeClr val="tx1"/>
                </a:solidFill>
                <a:effectLst/>
                <a:latin typeface="+mn-lt"/>
                <a:ea typeface="+mn-ea"/>
                <a:cs typeface="+mn-cs"/>
              </a:rPr>
              <a:t> is a </a:t>
            </a:r>
            <a:r>
              <a:rPr lang="en-US" sz="1200" b="1" kern="1200" dirty="0">
                <a:solidFill>
                  <a:schemeClr val="tx1"/>
                </a:solidFill>
                <a:effectLst/>
                <a:latin typeface="+mn-lt"/>
                <a:ea typeface="+mn-ea"/>
                <a:cs typeface="+mn-cs"/>
              </a:rPr>
              <a:t>**harder problem**</a:t>
            </a:r>
            <a:r>
              <a:rPr lang="en-US" sz="1200" b="0" kern="1200" dirty="0">
                <a:solidFill>
                  <a:schemeClr val="tx1"/>
                </a:solidFill>
                <a:effectLst/>
                <a:latin typeface="+mn-lt"/>
                <a:ea typeface="+mn-ea"/>
                <a:cs typeface="+mn-cs"/>
              </a:rPr>
              <a:t> - requires extensive search to find good solutions</a:t>
            </a:r>
          </a:p>
          <a:p>
            <a:r>
              <a:rPr lang="en-US" sz="1200" b="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**Insurance**</a:t>
            </a:r>
            <a:r>
              <a:rPr lang="en-US" sz="1200" b="0" kern="1200" dirty="0">
                <a:solidFill>
                  <a:schemeClr val="tx1"/>
                </a:solidFill>
                <a:effectLst/>
                <a:latin typeface="+mn-lt"/>
                <a:ea typeface="+mn-ea"/>
                <a:cs typeface="+mn-cs"/>
              </a:rPr>
              <a:t> is </a:t>
            </a:r>
            <a:r>
              <a:rPr lang="en-US" sz="1200" b="1" kern="1200" dirty="0">
                <a:solidFill>
                  <a:schemeClr val="tx1"/>
                </a:solidFill>
                <a:effectLst/>
                <a:latin typeface="+mn-lt"/>
                <a:ea typeface="+mn-ea"/>
                <a:cs typeface="+mn-cs"/>
              </a:rPr>
              <a:t>**easier to optimize**</a:t>
            </a:r>
            <a:r>
              <a:rPr lang="en-US" sz="1200" b="0" kern="1200" dirty="0">
                <a:solidFill>
                  <a:schemeClr val="tx1"/>
                </a:solidFill>
                <a:effectLst/>
                <a:latin typeface="+mn-lt"/>
                <a:ea typeface="+mn-ea"/>
                <a:cs typeface="+mn-cs"/>
              </a:rPr>
              <a:t> - simple structure allows quick convergence</a:t>
            </a:r>
          </a:p>
          <a:p>
            <a:r>
              <a:rPr lang="en-US" sz="1200" b="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**Temperature mechanism works**</a:t>
            </a:r>
            <a:r>
              <a:rPr lang="en-US" sz="1200" b="0" kern="1200" dirty="0">
                <a:solidFill>
                  <a:schemeClr val="tx1"/>
                </a:solidFill>
                <a:effectLst/>
                <a:latin typeface="+mn-lt"/>
                <a:ea typeface="+mn-ea"/>
                <a:cs typeface="+mn-cs"/>
              </a:rPr>
              <a:t>: Cooling schedule controls exploration → exploitation transition</a:t>
            </a:r>
          </a:p>
          <a:p>
            <a:r>
              <a:rPr lang="en-US" sz="1200" b="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**SA exploration-exploitation tradeoff**</a:t>
            </a:r>
            <a:r>
              <a:rPr lang="en-US" sz="1200" b="0" kern="1200" dirty="0">
                <a:solidFill>
                  <a:schemeClr val="tx1"/>
                </a:solidFill>
                <a:effectLst/>
                <a:latin typeface="+mn-lt"/>
                <a:ea typeface="+mn-ea"/>
                <a:cs typeface="+mn-cs"/>
              </a:rPr>
              <a:t>: High temp = explore (try risky moves), low temp = exploit (refine best solution)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contrast demonstrates how </a:t>
            </a:r>
            <a:r>
              <a:rPr lang="en-US" sz="1200" b="1" kern="1200" dirty="0">
                <a:solidFill>
                  <a:schemeClr val="tx1"/>
                </a:solidFill>
                <a:effectLst/>
                <a:latin typeface="+mn-lt"/>
                <a:ea typeface="+mn-ea"/>
                <a:cs typeface="+mn-cs"/>
              </a:rPr>
              <a:t>**dataset characteristics**</a:t>
            </a:r>
            <a:r>
              <a:rPr lang="en-US" sz="1200" b="0" kern="1200" dirty="0">
                <a:solidFill>
                  <a:schemeClr val="tx1"/>
                </a:solidFill>
                <a:effectLst/>
                <a:latin typeface="+mn-lt"/>
                <a:ea typeface="+mn-ea"/>
                <a:cs typeface="+mn-cs"/>
              </a:rPr>
              <a:t> (size, complexity, feature relationships) directly impact </a:t>
            </a:r>
            <a:r>
              <a:rPr lang="en-US" sz="1200" b="0" kern="1200" dirty="0" err="1">
                <a:solidFill>
                  <a:schemeClr val="tx1"/>
                </a:solidFill>
                <a:effectLst/>
                <a:latin typeface="+mn-lt"/>
                <a:ea typeface="+mn-ea"/>
                <a:cs typeface="+mn-cs"/>
              </a:rPr>
              <a:t>AutoML</a:t>
            </a:r>
            <a:r>
              <a:rPr lang="en-US" sz="1200" b="0" kern="1200" dirty="0">
                <a:solidFill>
                  <a:schemeClr val="tx1"/>
                </a:solidFill>
                <a:effectLst/>
                <a:latin typeface="+mn-lt"/>
                <a:ea typeface="+mn-ea"/>
                <a:cs typeface="+mn-cs"/>
              </a:rPr>
              <a:t> search difficulty.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C7293"/>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AutoML for Regression</a:t>
            </a:r>
            <a:endParaRPr lang="en-US" sz="4000" dirty="0"/>
          </a:p>
        </p:txBody>
      </p:sp>
      <p:sp>
        <p:nvSpPr>
          <p:cNvPr id="4" name="Text 2"/>
          <p:cNvSpPr/>
          <p:nvPr/>
        </p:nvSpPr>
        <p:spPr>
          <a:xfrm>
            <a:off x="731520" y="2011680"/>
            <a:ext cx="7680960" cy="548640"/>
          </a:xfrm>
          <a:prstGeom prst="rect">
            <a:avLst/>
          </a:prstGeom>
          <a:noFill/>
          <a:ln/>
        </p:spPr>
        <p:txBody>
          <a:bodyPr wrap="square" lIns="0" tIns="0" rIns="0" bIns="0" rtlCol="0" anchor="ctr"/>
          <a:lstStyle/>
          <a:p>
            <a:pPr marL="0" indent="0">
              <a:buNone/>
            </a:pPr>
            <a:r>
              <a:rPr lang="en-US" sz="2000" dirty="0">
                <a:solidFill>
                  <a:srgbClr val="1C7293"/>
                </a:solidFill>
                <a:latin typeface="Calibri" pitchFamily="34" charset="0"/>
                <a:ea typeface="Calibri" pitchFamily="34" charset="-122"/>
                <a:cs typeface="Calibri" pitchFamily="34" charset="-120"/>
              </a:rPr>
              <a:t>Custom Simulated Annealing vs. FLAML &amp; TPOT</a:t>
            </a:r>
            <a:endParaRPr lang="en-US" sz="2000" dirty="0"/>
          </a:p>
        </p:txBody>
      </p:sp>
      <p:sp>
        <p:nvSpPr>
          <p:cNvPr id="5" name="Shape 3"/>
          <p:cNvSpPr/>
          <p:nvPr/>
        </p:nvSpPr>
        <p:spPr>
          <a:xfrm>
            <a:off x="731520" y="2834640"/>
            <a:ext cx="2743200" cy="0"/>
          </a:xfrm>
          <a:prstGeom prst="line">
            <a:avLst/>
          </a:prstGeom>
          <a:noFill/>
          <a:ln w="25400">
            <a:solidFill>
              <a:srgbClr val="1C7293"/>
            </a:solidFill>
            <a:prstDash val="solid"/>
          </a:ln>
        </p:spPr>
        <p:txBody>
          <a:bodyPr/>
          <a:lstStyle/>
          <a:p>
            <a:endParaRPr lang="en-US"/>
          </a:p>
        </p:txBody>
      </p:sp>
      <p:sp>
        <p:nvSpPr>
          <p:cNvPr id="6" name="Text 4"/>
          <p:cNvSpPr/>
          <p:nvPr/>
        </p:nvSpPr>
        <p:spPr>
          <a:xfrm>
            <a:off x="731520" y="3108960"/>
            <a:ext cx="7315200" cy="109728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DNDS5019 — Machine Learning (Advanced)</a:t>
            </a:r>
            <a:endParaRPr lang="en-US" sz="1400" dirty="0"/>
          </a:p>
          <a:p>
            <a:pPr marL="0" indent="0">
              <a:buNone/>
            </a:pPr>
            <a:r>
              <a:rPr lang="en-US" sz="1400" b="1" dirty="0">
                <a:solidFill>
                  <a:srgbClr val="64748B"/>
                </a:solidFill>
                <a:latin typeface="Calibri" pitchFamily="34" charset="0"/>
                <a:ea typeface="Calibri" pitchFamily="34" charset="-122"/>
                <a:cs typeface="Calibri" pitchFamily="34" charset="-120"/>
              </a:rPr>
              <a:t>Ali Usama</a:t>
            </a:r>
            <a:endParaRPr lang="en-US" sz="1400" dirty="0"/>
          </a:p>
          <a:p>
            <a:pPr marL="0" indent="0">
              <a:buNone/>
            </a:pPr>
            <a:r>
              <a:rPr lang="en-US" sz="1400" dirty="0">
                <a:solidFill>
                  <a:srgbClr val="64748B"/>
                </a:solidFill>
                <a:latin typeface="Calibri" pitchFamily="34" charset="0"/>
                <a:ea typeface="Calibri" pitchFamily="34" charset="-122"/>
                <a:cs typeface="Calibri" pitchFamily="34" charset="-120"/>
              </a:rPr>
              <a:t>March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a:t>
            </a:r>
            <a:endParaRPr lang="en-US" sz="900" dirty="0"/>
          </a:p>
        </p:txBody>
      </p:sp>
      <p:sp>
        <p:nvSpPr>
          <p:cNvPr id="4" name="Text 2"/>
          <p:cNvSpPr/>
          <p:nvPr/>
        </p:nvSpPr>
        <p:spPr>
          <a:xfrm>
            <a:off x="731520" y="274320"/>
            <a:ext cx="7315200" cy="64008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Agenda</a:t>
            </a:r>
            <a:endParaRPr lang="en-US" sz="3200" dirty="0"/>
          </a:p>
        </p:txBody>
      </p:sp>
      <p:sp>
        <p:nvSpPr>
          <p:cNvPr id="5" name="Shape 3"/>
          <p:cNvSpPr/>
          <p:nvPr/>
        </p:nvSpPr>
        <p:spPr>
          <a:xfrm>
            <a:off x="731520" y="1234440"/>
            <a:ext cx="320040" cy="320040"/>
          </a:xfrm>
          <a:prstGeom prst="ellipse">
            <a:avLst/>
          </a:prstGeom>
          <a:solidFill>
            <a:srgbClr val="065A82"/>
          </a:solidFill>
          <a:ln/>
        </p:spPr>
        <p:txBody>
          <a:bodyPr/>
          <a:lstStyle/>
          <a:p>
            <a:endParaRPr lang="en-US"/>
          </a:p>
        </p:txBody>
      </p:sp>
      <p:sp>
        <p:nvSpPr>
          <p:cNvPr id="6" name="Text 4"/>
          <p:cNvSpPr/>
          <p:nvPr/>
        </p:nvSpPr>
        <p:spPr>
          <a:xfrm>
            <a:off x="731520" y="123444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18872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The AutoML Problem</a:t>
            </a:r>
            <a:endParaRPr lang="en-US" sz="1500" dirty="0"/>
          </a:p>
        </p:txBody>
      </p:sp>
      <p:sp>
        <p:nvSpPr>
          <p:cNvPr id="8" name="Text 6"/>
          <p:cNvSpPr/>
          <p:nvPr/>
        </p:nvSpPr>
        <p:spPr>
          <a:xfrm>
            <a:off x="1280160" y="142646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Why automate ML pipeline design?</a:t>
            </a:r>
            <a:endParaRPr lang="en-US" sz="1100" dirty="0"/>
          </a:p>
        </p:txBody>
      </p:sp>
      <p:sp>
        <p:nvSpPr>
          <p:cNvPr id="9" name="Shape 7"/>
          <p:cNvSpPr/>
          <p:nvPr/>
        </p:nvSpPr>
        <p:spPr>
          <a:xfrm>
            <a:off x="731520" y="1737360"/>
            <a:ext cx="320040" cy="320040"/>
          </a:xfrm>
          <a:prstGeom prst="ellipse">
            <a:avLst/>
          </a:prstGeom>
          <a:solidFill>
            <a:srgbClr val="065A82"/>
          </a:solidFill>
          <a:ln/>
        </p:spPr>
        <p:txBody>
          <a:bodyPr/>
          <a:lstStyle/>
          <a:p>
            <a:endParaRPr lang="en-US"/>
          </a:p>
        </p:txBody>
      </p:sp>
      <p:sp>
        <p:nvSpPr>
          <p:cNvPr id="10" name="Text 8"/>
          <p:cNvSpPr/>
          <p:nvPr/>
        </p:nvSpPr>
        <p:spPr>
          <a:xfrm>
            <a:off x="731520" y="173736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280160" y="169164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Datasets &amp; Preprocessing</a:t>
            </a:r>
            <a:endParaRPr lang="en-US" sz="1500" dirty="0"/>
          </a:p>
        </p:txBody>
      </p:sp>
      <p:sp>
        <p:nvSpPr>
          <p:cNvPr id="12" name="Text 10"/>
          <p:cNvSpPr/>
          <p:nvPr/>
        </p:nvSpPr>
        <p:spPr>
          <a:xfrm>
            <a:off x="1280160" y="192938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Airbnb pricing &amp; Insurance charges</a:t>
            </a:r>
            <a:endParaRPr lang="en-US" sz="1100" dirty="0"/>
          </a:p>
        </p:txBody>
      </p:sp>
      <p:sp>
        <p:nvSpPr>
          <p:cNvPr id="13" name="Shape 11"/>
          <p:cNvSpPr/>
          <p:nvPr/>
        </p:nvSpPr>
        <p:spPr>
          <a:xfrm>
            <a:off x="731520" y="2240280"/>
            <a:ext cx="320040" cy="320040"/>
          </a:xfrm>
          <a:prstGeom prst="ellipse">
            <a:avLst/>
          </a:prstGeom>
          <a:solidFill>
            <a:srgbClr val="065A82"/>
          </a:solidFill>
          <a:ln/>
        </p:spPr>
        <p:txBody>
          <a:bodyPr/>
          <a:lstStyle/>
          <a:p>
            <a:endParaRPr lang="en-US"/>
          </a:p>
        </p:txBody>
      </p:sp>
      <p:sp>
        <p:nvSpPr>
          <p:cNvPr id="14" name="Text 12"/>
          <p:cNvSpPr/>
          <p:nvPr/>
        </p:nvSpPr>
        <p:spPr>
          <a:xfrm>
            <a:off x="731520" y="224028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280160" y="219456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Custom SA Implementation</a:t>
            </a:r>
            <a:endParaRPr lang="en-US" sz="1500" dirty="0"/>
          </a:p>
        </p:txBody>
      </p:sp>
      <p:sp>
        <p:nvSpPr>
          <p:cNvPr id="16" name="Text 14"/>
          <p:cNvSpPr/>
          <p:nvPr/>
        </p:nvSpPr>
        <p:spPr>
          <a:xfrm>
            <a:off x="1280160" y="243230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Search space, cooling, neighbor strategy</a:t>
            </a:r>
            <a:endParaRPr lang="en-US" sz="1100" dirty="0"/>
          </a:p>
        </p:txBody>
      </p:sp>
      <p:sp>
        <p:nvSpPr>
          <p:cNvPr id="17" name="Shape 15"/>
          <p:cNvSpPr/>
          <p:nvPr/>
        </p:nvSpPr>
        <p:spPr>
          <a:xfrm>
            <a:off x="731520" y="2743200"/>
            <a:ext cx="320040" cy="320040"/>
          </a:xfrm>
          <a:prstGeom prst="ellipse">
            <a:avLst/>
          </a:prstGeom>
          <a:solidFill>
            <a:srgbClr val="065A82"/>
          </a:solidFill>
          <a:ln/>
        </p:spPr>
        <p:txBody>
          <a:bodyPr/>
          <a:lstStyle/>
          <a:p>
            <a:endParaRPr lang="en-US"/>
          </a:p>
        </p:txBody>
      </p:sp>
      <p:sp>
        <p:nvSpPr>
          <p:cNvPr id="18" name="Text 16"/>
          <p:cNvSpPr/>
          <p:nvPr/>
        </p:nvSpPr>
        <p:spPr>
          <a:xfrm>
            <a:off x="731520" y="274320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280160" y="269748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FLAML &amp; TPOT Comparison</a:t>
            </a:r>
            <a:endParaRPr lang="en-US" sz="1500" dirty="0"/>
          </a:p>
        </p:txBody>
      </p:sp>
      <p:sp>
        <p:nvSpPr>
          <p:cNvPr id="20" name="Text 18"/>
          <p:cNvSpPr/>
          <p:nvPr/>
        </p:nvSpPr>
        <p:spPr>
          <a:xfrm>
            <a:off x="1280160" y="293522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State-of-the-art AutoML systems</a:t>
            </a:r>
            <a:endParaRPr lang="en-US" sz="1100" dirty="0"/>
          </a:p>
        </p:txBody>
      </p:sp>
      <p:sp>
        <p:nvSpPr>
          <p:cNvPr id="21" name="Shape 19"/>
          <p:cNvSpPr/>
          <p:nvPr/>
        </p:nvSpPr>
        <p:spPr>
          <a:xfrm>
            <a:off x="731520" y="3246120"/>
            <a:ext cx="320040" cy="320040"/>
          </a:xfrm>
          <a:prstGeom prst="ellipse">
            <a:avLst/>
          </a:prstGeom>
          <a:solidFill>
            <a:srgbClr val="065A82"/>
          </a:solidFill>
          <a:ln/>
        </p:spPr>
        <p:txBody>
          <a:bodyPr/>
          <a:lstStyle/>
          <a:p>
            <a:endParaRPr lang="en-US"/>
          </a:p>
        </p:txBody>
      </p:sp>
      <p:sp>
        <p:nvSpPr>
          <p:cNvPr id="22" name="Text 20"/>
          <p:cNvSpPr/>
          <p:nvPr/>
        </p:nvSpPr>
        <p:spPr>
          <a:xfrm>
            <a:off x="731520" y="324612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280160" y="320040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Results &amp; Analysis</a:t>
            </a:r>
            <a:endParaRPr lang="en-US" sz="1500" dirty="0"/>
          </a:p>
        </p:txBody>
      </p:sp>
      <p:sp>
        <p:nvSpPr>
          <p:cNvPr id="24" name="Text 22"/>
          <p:cNvSpPr/>
          <p:nvPr/>
        </p:nvSpPr>
        <p:spPr>
          <a:xfrm>
            <a:off x="1280160" y="343814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Performance metrics, convergence, feature importance</a:t>
            </a:r>
            <a:endParaRPr lang="en-US" sz="1100" dirty="0"/>
          </a:p>
        </p:txBody>
      </p:sp>
      <p:sp>
        <p:nvSpPr>
          <p:cNvPr id="25" name="Shape 23"/>
          <p:cNvSpPr/>
          <p:nvPr/>
        </p:nvSpPr>
        <p:spPr>
          <a:xfrm>
            <a:off x="731520" y="3749040"/>
            <a:ext cx="320040" cy="320040"/>
          </a:xfrm>
          <a:prstGeom prst="ellipse">
            <a:avLst/>
          </a:prstGeom>
          <a:solidFill>
            <a:srgbClr val="065A82"/>
          </a:solidFill>
          <a:ln/>
        </p:spPr>
        <p:txBody>
          <a:bodyPr/>
          <a:lstStyle/>
          <a:p>
            <a:endParaRPr lang="en-US"/>
          </a:p>
        </p:txBody>
      </p:sp>
      <p:sp>
        <p:nvSpPr>
          <p:cNvPr id="26" name="Text 24"/>
          <p:cNvSpPr/>
          <p:nvPr/>
        </p:nvSpPr>
        <p:spPr>
          <a:xfrm>
            <a:off x="731520" y="374904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1280160" y="370332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Dataset Contrast</a:t>
            </a:r>
            <a:endParaRPr lang="en-US" sz="1500" dirty="0"/>
          </a:p>
        </p:txBody>
      </p:sp>
      <p:sp>
        <p:nvSpPr>
          <p:cNvPr id="28" name="Text 26"/>
          <p:cNvSpPr/>
          <p:nvPr/>
        </p:nvSpPr>
        <p:spPr>
          <a:xfrm>
            <a:off x="1280160" y="394106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How data characteristics affect AutoML</a:t>
            </a:r>
            <a:endParaRPr lang="en-US" sz="1100" dirty="0"/>
          </a:p>
        </p:txBody>
      </p:sp>
      <p:sp>
        <p:nvSpPr>
          <p:cNvPr id="29" name="Shape 27"/>
          <p:cNvSpPr/>
          <p:nvPr/>
        </p:nvSpPr>
        <p:spPr>
          <a:xfrm>
            <a:off x="731520" y="4251960"/>
            <a:ext cx="320040" cy="320040"/>
          </a:xfrm>
          <a:prstGeom prst="ellipse">
            <a:avLst/>
          </a:prstGeom>
          <a:solidFill>
            <a:srgbClr val="065A82"/>
          </a:solidFill>
          <a:ln/>
        </p:spPr>
        <p:txBody>
          <a:bodyPr/>
          <a:lstStyle/>
          <a:p>
            <a:endParaRPr lang="en-US"/>
          </a:p>
        </p:txBody>
      </p:sp>
      <p:sp>
        <p:nvSpPr>
          <p:cNvPr id="30" name="Text 28"/>
          <p:cNvSpPr/>
          <p:nvPr/>
        </p:nvSpPr>
        <p:spPr>
          <a:xfrm>
            <a:off x="731520" y="4251960"/>
            <a:ext cx="32004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1280160" y="4206240"/>
            <a:ext cx="3657600"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Conclusions &amp; Lessons Learned</a:t>
            </a:r>
            <a:endParaRPr lang="en-US" sz="1500" dirty="0"/>
          </a:p>
        </p:txBody>
      </p:sp>
      <p:sp>
        <p:nvSpPr>
          <p:cNvPr id="32" name="Text 30"/>
          <p:cNvSpPr/>
          <p:nvPr/>
        </p:nvSpPr>
        <p:spPr>
          <a:xfrm>
            <a:off x="1280160" y="4443984"/>
            <a:ext cx="64008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Key takeaways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 The AutoML Problem</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Why automate ML pipeline design?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4</a:t>
            </a:r>
            <a:endParaRPr lang="en-US" sz="900" dirty="0"/>
          </a:p>
        </p:txBody>
      </p:sp>
      <p:sp>
        <p:nvSpPr>
          <p:cNvPr id="4" name="Text 2"/>
          <p:cNvSpPr/>
          <p:nvPr/>
        </p:nvSpPr>
        <p:spPr>
          <a:xfrm>
            <a:off x="731520" y="274320"/>
            <a:ext cx="73152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is AutoML?</a:t>
            </a:r>
            <a:endParaRPr lang="en-US" sz="2800" dirty="0"/>
          </a:p>
        </p:txBody>
      </p:sp>
      <p:sp>
        <p:nvSpPr>
          <p:cNvPr id="5" name="Text 3"/>
          <p:cNvSpPr/>
          <p:nvPr/>
        </p:nvSpPr>
        <p:spPr>
          <a:xfrm>
            <a:off x="731520" y="1005840"/>
            <a:ext cx="76809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 machine learning practitioner faces a nested optimization problem:</a:t>
            </a:r>
            <a:endParaRPr lang="en-US" sz="1400" dirty="0"/>
          </a:p>
        </p:txBody>
      </p:sp>
      <p:sp>
        <p:nvSpPr>
          <p:cNvPr id="6" name="Shape 4"/>
          <p:cNvSpPr/>
          <p:nvPr/>
        </p:nvSpPr>
        <p:spPr>
          <a:xfrm>
            <a:off x="731520" y="1645920"/>
            <a:ext cx="24688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731520" y="1645920"/>
            <a:ext cx="2468880" cy="54864"/>
          </a:xfrm>
          <a:prstGeom prst="rect">
            <a:avLst/>
          </a:prstGeom>
          <a:solidFill>
            <a:srgbClr val="065A82"/>
          </a:solidFill>
          <a:ln/>
        </p:spPr>
        <p:txBody>
          <a:bodyPr/>
          <a:lstStyle/>
          <a:p>
            <a:endParaRPr lang="en-US"/>
          </a:p>
        </p:txBody>
      </p:sp>
      <p:sp>
        <p:nvSpPr>
          <p:cNvPr id="8" name="Text 6"/>
          <p:cNvSpPr/>
          <p:nvPr/>
        </p:nvSpPr>
        <p:spPr>
          <a:xfrm>
            <a:off x="868680" y="1828800"/>
            <a:ext cx="219456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Which algorithm?</a:t>
            </a:r>
            <a:endParaRPr lang="en-US" sz="1400" dirty="0"/>
          </a:p>
        </p:txBody>
      </p:sp>
      <p:sp>
        <p:nvSpPr>
          <p:cNvPr id="9" name="Text 7"/>
          <p:cNvSpPr/>
          <p:nvPr/>
        </p:nvSpPr>
        <p:spPr>
          <a:xfrm>
            <a:off x="868680" y="2194560"/>
            <a:ext cx="2194560" cy="7772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RF, XGBoost, KNN, Ridge, ElasticNet, GradientBoosting...</a:t>
            </a:r>
            <a:endParaRPr lang="en-US" sz="1100" dirty="0"/>
          </a:p>
        </p:txBody>
      </p:sp>
      <p:sp>
        <p:nvSpPr>
          <p:cNvPr id="10" name="Shape 8"/>
          <p:cNvSpPr/>
          <p:nvPr/>
        </p:nvSpPr>
        <p:spPr>
          <a:xfrm>
            <a:off x="3474720" y="1645920"/>
            <a:ext cx="24688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474720" y="1645920"/>
            <a:ext cx="2468880" cy="54864"/>
          </a:xfrm>
          <a:prstGeom prst="rect">
            <a:avLst/>
          </a:prstGeom>
          <a:solidFill>
            <a:srgbClr val="065A82"/>
          </a:solidFill>
          <a:ln/>
        </p:spPr>
        <p:txBody>
          <a:bodyPr/>
          <a:lstStyle/>
          <a:p>
            <a:endParaRPr lang="en-US"/>
          </a:p>
        </p:txBody>
      </p:sp>
      <p:sp>
        <p:nvSpPr>
          <p:cNvPr id="12" name="Text 10"/>
          <p:cNvSpPr/>
          <p:nvPr/>
        </p:nvSpPr>
        <p:spPr>
          <a:xfrm>
            <a:off x="3611880" y="1828800"/>
            <a:ext cx="219456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Which hyperparameters?</a:t>
            </a:r>
            <a:endParaRPr lang="en-US" sz="1400" dirty="0"/>
          </a:p>
        </p:txBody>
      </p:sp>
      <p:sp>
        <p:nvSpPr>
          <p:cNvPr id="13" name="Text 11"/>
          <p:cNvSpPr/>
          <p:nvPr/>
        </p:nvSpPr>
        <p:spPr>
          <a:xfrm>
            <a:off x="3611880" y="2194560"/>
            <a:ext cx="2194560" cy="7772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learning_rate, max_depth, n_estimators, alpha, subsample...</a:t>
            </a:r>
            <a:endParaRPr lang="en-US" sz="1100" dirty="0"/>
          </a:p>
        </p:txBody>
      </p:sp>
      <p:sp>
        <p:nvSpPr>
          <p:cNvPr id="14" name="Shape 12"/>
          <p:cNvSpPr/>
          <p:nvPr/>
        </p:nvSpPr>
        <p:spPr>
          <a:xfrm>
            <a:off x="6217920" y="1645920"/>
            <a:ext cx="24688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217920" y="1645920"/>
            <a:ext cx="2468880" cy="54864"/>
          </a:xfrm>
          <a:prstGeom prst="rect">
            <a:avLst/>
          </a:prstGeom>
          <a:solidFill>
            <a:srgbClr val="065A82"/>
          </a:solidFill>
          <a:ln/>
        </p:spPr>
        <p:txBody>
          <a:bodyPr/>
          <a:lstStyle/>
          <a:p>
            <a:endParaRPr lang="en-US"/>
          </a:p>
        </p:txBody>
      </p:sp>
      <p:sp>
        <p:nvSpPr>
          <p:cNvPr id="16" name="Text 14"/>
          <p:cNvSpPr/>
          <p:nvPr/>
        </p:nvSpPr>
        <p:spPr>
          <a:xfrm>
            <a:off x="6355080" y="1828800"/>
            <a:ext cx="219456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Which preprocessing?</a:t>
            </a:r>
            <a:endParaRPr lang="en-US" sz="1400" dirty="0"/>
          </a:p>
        </p:txBody>
      </p:sp>
      <p:sp>
        <p:nvSpPr>
          <p:cNvPr id="17" name="Text 15"/>
          <p:cNvSpPr/>
          <p:nvPr/>
        </p:nvSpPr>
        <p:spPr>
          <a:xfrm>
            <a:off x="6355080" y="2194560"/>
            <a:ext cx="2194560" cy="7772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Scaling, encoding, feature engineering, imputation...</a:t>
            </a:r>
            <a:endParaRPr lang="en-US" sz="1100" dirty="0"/>
          </a:p>
        </p:txBody>
      </p:sp>
      <p:sp>
        <p:nvSpPr>
          <p:cNvPr id="18" name="Text 16"/>
          <p:cNvSpPr/>
          <p:nvPr/>
        </p:nvSpPr>
        <p:spPr>
          <a:xfrm>
            <a:off x="731520" y="3383280"/>
            <a:ext cx="7680960" cy="640080"/>
          </a:xfrm>
          <a:prstGeom prst="rect">
            <a:avLst/>
          </a:prstGeom>
          <a:noFill/>
          <a:ln/>
        </p:spPr>
        <p:txBody>
          <a:bodyPr wrap="square" lIns="0" tIns="0" rIns="0" bIns="0" rtlCol="0" anchor="ctr"/>
          <a:lstStyle/>
          <a:p>
            <a:pPr marL="0" indent="0">
              <a:buNone/>
            </a:pPr>
            <a:r>
              <a:rPr lang="en-US" sz="1300" i="1" dirty="0">
                <a:solidFill>
                  <a:srgbClr val="1E293B"/>
                </a:solidFill>
                <a:latin typeface="Calibri" pitchFamily="34" charset="0"/>
                <a:ea typeface="Calibri" pitchFamily="34" charset="-122"/>
                <a:cs typeface="Calibri" pitchFamily="34" charset="-120"/>
              </a:rPr>
              <a:t>Our approach: Simulated Annealing — a metaheuristic that jointly optimizes algorithm selection and hyperparameter tuning within a fixed time budget.</a:t>
            </a:r>
            <a:endParaRPr lang="en-US" sz="1300" dirty="0"/>
          </a:p>
        </p:txBody>
      </p:sp>
      <p:sp>
        <p:nvSpPr>
          <p:cNvPr id="19" name="Text 17"/>
          <p:cNvSpPr/>
          <p:nvPr/>
        </p:nvSpPr>
        <p:spPr>
          <a:xfrm>
            <a:off x="731520" y="4114800"/>
            <a:ext cx="7680960" cy="365760"/>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Search space: ~46,830 configurations. Grid search at 2s/fit = ~130 hours. SA finds near-optimal in 1 hour.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 Datasets &amp; Preprocessing</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Two datasets with contrasting characteristics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6</a:t>
            </a:r>
            <a:endParaRPr lang="en-US" sz="900" dirty="0"/>
          </a:p>
        </p:txBody>
      </p:sp>
      <p:sp>
        <p:nvSpPr>
          <p:cNvPr id="4" name="Text 2"/>
          <p:cNvSpPr/>
          <p:nvPr/>
        </p:nvSpPr>
        <p:spPr>
          <a:xfrm>
            <a:off x="731520" y="274320"/>
            <a:ext cx="73152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Dataset Overview</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660904"/>
        </p:xfrm>
        <a:graphic>
          <a:graphicData uri="http://schemas.openxmlformats.org/drawingml/2006/table">
            <a:tbl>
              <a:tblPr/>
              <a:tblGrid>
                <a:gridCol w="2286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Airbnb Pricing</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Insurance Charges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74,111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1,338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Features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71 (after OHE)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 (incl. interaction)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Missing values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Up to 24.7%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 (clean)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log_price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log1p(charges)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Target skewness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0.515 (after log)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1.51 raw → -0.09 after log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Key predictor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Room type + location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Smoker × BMI interaction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Data structure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Cross-sectional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Cross-sectional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9260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Kaggle (Airbnb NYC)</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Geeksforgeeks (Medical Insurance)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7</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Airbnb Preprocessing Pipeline</a:t>
            </a:r>
            <a:endParaRPr lang="en-US" sz="2600" dirty="0"/>
          </a:p>
        </p:txBody>
      </p:sp>
      <p:sp>
        <p:nvSpPr>
          <p:cNvPr id="5" name="Shape 3"/>
          <p:cNvSpPr/>
          <p:nvPr/>
        </p:nvSpPr>
        <p:spPr>
          <a:xfrm>
            <a:off x="731520" y="960120"/>
            <a:ext cx="54864" cy="347472"/>
          </a:xfrm>
          <a:prstGeom prst="rect">
            <a:avLst/>
          </a:prstGeom>
          <a:solidFill>
            <a:srgbClr val="065A82"/>
          </a:solidFill>
          <a:ln/>
        </p:spPr>
        <p:txBody>
          <a:bodyPr/>
          <a:lstStyle/>
          <a:p>
            <a:endParaRPr lang="en-US"/>
          </a:p>
        </p:txBody>
      </p:sp>
      <p:sp>
        <p:nvSpPr>
          <p:cNvPr id="6" name="Text 4"/>
          <p:cNvSpPr/>
          <p:nvPr/>
        </p:nvSpPr>
        <p:spPr>
          <a:xfrm>
            <a:off x="960120" y="960120"/>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Drop columns</a:t>
            </a:r>
            <a:endParaRPr lang="en-US" sz="1200" dirty="0"/>
          </a:p>
        </p:txBody>
      </p:sp>
      <p:sp>
        <p:nvSpPr>
          <p:cNvPr id="7" name="Text 5"/>
          <p:cNvSpPr/>
          <p:nvPr/>
        </p:nvSpPr>
        <p:spPr>
          <a:xfrm>
            <a:off x="2834640" y="960120"/>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id, description, name, thumbnail_url, amenities, neighbourhood</a:t>
            </a:r>
            <a:endParaRPr lang="en-US" sz="1100" dirty="0"/>
          </a:p>
        </p:txBody>
      </p:sp>
      <p:sp>
        <p:nvSpPr>
          <p:cNvPr id="8" name="Shape 6"/>
          <p:cNvSpPr/>
          <p:nvPr/>
        </p:nvSpPr>
        <p:spPr>
          <a:xfrm>
            <a:off x="731520" y="1435608"/>
            <a:ext cx="54864" cy="347472"/>
          </a:xfrm>
          <a:prstGeom prst="rect">
            <a:avLst/>
          </a:prstGeom>
          <a:solidFill>
            <a:srgbClr val="065A82"/>
          </a:solidFill>
          <a:ln/>
        </p:spPr>
        <p:txBody>
          <a:bodyPr/>
          <a:lstStyle/>
          <a:p>
            <a:endParaRPr lang="en-US"/>
          </a:p>
        </p:txBody>
      </p:sp>
      <p:sp>
        <p:nvSpPr>
          <p:cNvPr id="9" name="Text 7"/>
          <p:cNvSpPr/>
          <p:nvPr/>
        </p:nvSpPr>
        <p:spPr>
          <a:xfrm>
            <a:off x="960120" y="1435608"/>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Remove outliers</a:t>
            </a:r>
            <a:endParaRPr lang="en-US" sz="1200" dirty="0"/>
          </a:p>
        </p:txBody>
      </p:sp>
      <p:sp>
        <p:nvSpPr>
          <p:cNvPr id="10" name="Text 8"/>
          <p:cNvSpPr/>
          <p:nvPr/>
        </p:nvSpPr>
        <p:spPr>
          <a:xfrm>
            <a:off x="2834640" y="1435608"/>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log_price = 0 rows (likely errors)</a:t>
            </a:r>
            <a:endParaRPr lang="en-US" sz="1100" dirty="0"/>
          </a:p>
        </p:txBody>
      </p:sp>
      <p:sp>
        <p:nvSpPr>
          <p:cNvPr id="11" name="Shape 9"/>
          <p:cNvSpPr/>
          <p:nvPr/>
        </p:nvSpPr>
        <p:spPr>
          <a:xfrm>
            <a:off x="731520" y="1911096"/>
            <a:ext cx="54864" cy="347472"/>
          </a:xfrm>
          <a:prstGeom prst="rect">
            <a:avLst/>
          </a:prstGeom>
          <a:solidFill>
            <a:srgbClr val="065A82"/>
          </a:solidFill>
          <a:ln/>
        </p:spPr>
        <p:txBody>
          <a:bodyPr/>
          <a:lstStyle/>
          <a:p>
            <a:endParaRPr lang="en-US"/>
          </a:p>
        </p:txBody>
      </p:sp>
      <p:sp>
        <p:nvSpPr>
          <p:cNvPr id="12" name="Text 10"/>
          <p:cNvSpPr/>
          <p:nvPr/>
        </p:nvSpPr>
        <p:spPr>
          <a:xfrm>
            <a:off x="960120" y="1911096"/>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Date engineering</a:t>
            </a:r>
            <a:endParaRPr lang="en-US" sz="1200" dirty="0"/>
          </a:p>
        </p:txBody>
      </p:sp>
      <p:sp>
        <p:nvSpPr>
          <p:cNvPr id="13" name="Text 11"/>
          <p:cNvSpPr/>
          <p:nvPr/>
        </p:nvSpPr>
        <p:spPr>
          <a:xfrm>
            <a:off x="2834640" y="1911096"/>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host_since → days_as_host, first/last_review → days_since</a:t>
            </a:r>
            <a:endParaRPr lang="en-US" sz="1100" dirty="0"/>
          </a:p>
        </p:txBody>
      </p:sp>
      <p:sp>
        <p:nvSpPr>
          <p:cNvPr id="14" name="Shape 12"/>
          <p:cNvSpPr/>
          <p:nvPr/>
        </p:nvSpPr>
        <p:spPr>
          <a:xfrm>
            <a:off x="731520" y="2386584"/>
            <a:ext cx="54864" cy="347472"/>
          </a:xfrm>
          <a:prstGeom prst="rect">
            <a:avLst/>
          </a:prstGeom>
          <a:solidFill>
            <a:srgbClr val="065A82"/>
          </a:solidFill>
          <a:ln/>
        </p:spPr>
        <p:txBody>
          <a:bodyPr/>
          <a:lstStyle/>
          <a:p>
            <a:endParaRPr lang="en-US"/>
          </a:p>
        </p:txBody>
      </p:sp>
      <p:sp>
        <p:nvSpPr>
          <p:cNvPr id="15" name="Text 13"/>
          <p:cNvSpPr/>
          <p:nvPr/>
        </p:nvSpPr>
        <p:spPr>
          <a:xfrm>
            <a:off x="960120" y="2386584"/>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Parse rates</a:t>
            </a:r>
            <a:endParaRPr lang="en-US" sz="1200" dirty="0"/>
          </a:p>
        </p:txBody>
      </p:sp>
      <p:sp>
        <p:nvSpPr>
          <p:cNvPr id="16" name="Text 14"/>
          <p:cNvSpPr/>
          <p:nvPr/>
        </p:nvSpPr>
        <p:spPr>
          <a:xfrm>
            <a:off x="2834640" y="2386584"/>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host_response_rate: '96%' string → numeric float</a:t>
            </a:r>
            <a:endParaRPr lang="en-US" sz="1100" dirty="0"/>
          </a:p>
        </p:txBody>
      </p:sp>
      <p:sp>
        <p:nvSpPr>
          <p:cNvPr id="17" name="Shape 15"/>
          <p:cNvSpPr/>
          <p:nvPr/>
        </p:nvSpPr>
        <p:spPr>
          <a:xfrm>
            <a:off x="731520" y="2862072"/>
            <a:ext cx="54864" cy="347472"/>
          </a:xfrm>
          <a:prstGeom prst="rect">
            <a:avLst/>
          </a:prstGeom>
          <a:solidFill>
            <a:srgbClr val="065A82"/>
          </a:solidFill>
          <a:ln/>
        </p:spPr>
        <p:txBody>
          <a:bodyPr/>
          <a:lstStyle/>
          <a:p>
            <a:endParaRPr lang="en-US"/>
          </a:p>
        </p:txBody>
      </p:sp>
      <p:sp>
        <p:nvSpPr>
          <p:cNvPr id="18" name="Text 16"/>
          <p:cNvSpPr/>
          <p:nvPr/>
        </p:nvSpPr>
        <p:spPr>
          <a:xfrm>
            <a:off x="960120" y="2862072"/>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Binary encode</a:t>
            </a:r>
            <a:endParaRPr lang="en-US" sz="1200" dirty="0"/>
          </a:p>
        </p:txBody>
      </p:sp>
      <p:sp>
        <p:nvSpPr>
          <p:cNvPr id="19" name="Text 17"/>
          <p:cNvSpPr/>
          <p:nvPr/>
        </p:nvSpPr>
        <p:spPr>
          <a:xfrm>
            <a:off x="2834640" y="2862072"/>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cleaning_fee, host_has_profile_pic, instant_bookable (t/f → 0/1)</a:t>
            </a:r>
            <a:endParaRPr lang="en-US" sz="1100" dirty="0"/>
          </a:p>
        </p:txBody>
      </p:sp>
      <p:sp>
        <p:nvSpPr>
          <p:cNvPr id="20" name="Shape 18"/>
          <p:cNvSpPr/>
          <p:nvPr/>
        </p:nvSpPr>
        <p:spPr>
          <a:xfrm>
            <a:off x="731520" y="3337560"/>
            <a:ext cx="54864" cy="347472"/>
          </a:xfrm>
          <a:prstGeom prst="rect">
            <a:avLst/>
          </a:prstGeom>
          <a:solidFill>
            <a:srgbClr val="065A82"/>
          </a:solidFill>
          <a:ln/>
        </p:spPr>
        <p:txBody>
          <a:bodyPr/>
          <a:lstStyle/>
          <a:p>
            <a:endParaRPr lang="en-US"/>
          </a:p>
        </p:txBody>
      </p:sp>
      <p:sp>
        <p:nvSpPr>
          <p:cNvPr id="21" name="Text 19"/>
          <p:cNvSpPr/>
          <p:nvPr/>
        </p:nvSpPr>
        <p:spPr>
          <a:xfrm>
            <a:off x="960120" y="3337560"/>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Imputation</a:t>
            </a:r>
            <a:endParaRPr lang="en-US" sz="1200" dirty="0"/>
          </a:p>
        </p:txBody>
      </p:sp>
      <p:sp>
        <p:nvSpPr>
          <p:cNvPr id="22" name="Text 20"/>
          <p:cNvSpPr/>
          <p:nvPr/>
        </p:nvSpPr>
        <p:spPr>
          <a:xfrm>
            <a:off x="2834640" y="3337560"/>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Median fill for bathrooms, bedrooms, beds, zipcode, review_scores</a:t>
            </a:r>
            <a:endParaRPr lang="en-US" sz="1100" dirty="0"/>
          </a:p>
        </p:txBody>
      </p:sp>
      <p:sp>
        <p:nvSpPr>
          <p:cNvPr id="23" name="Shape 21"/>
          <p:cNvSpPr/>
          <p:nvPr/>
        </p:nvSpPr>
        <p:spPr>
          <a:xfrm>
            <a:off x="731520" y="3813048"/>
            <a:ext cx="54864" cy="347472"/>
          </a:xfrm>
          <a:prstGeom prst="rect">
            <a:avLst/>
          </a:prstGeom>
          <a:solidFill>
            <a:srgbClr val="065A82"/>
          </a:solidFill>
          <a:ln/>
        </p:spPr>
        <p:txBody>
          <a:bodyPr/>
          <a:lstStyle/>
          <a:p>
            <a:endParaRPr lang="en-US"/>
          </a:p>
        </p:txBody>
      </p:sp>
      <p:sp>
        <p:nvSpPr>
          <p:cNvPr id="24" name="Text 22"/>
          <p:cNvSpPr/>
          <p:nvPr/>
        </p:nvSpPr>
        <p:spPr>
          <a:xfrm>
            <a:off x="960120" y="3813048"/>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One-hot encode</a:t>
            </a:r>
            <a:endParaRPr lang="en-US" sz="1200" dirty="0"/>
          </a:p>
        </p:txBody>
      </p:sp>
      <p:sp>
        <p:nvSpPr>
          <p:cNvPr id="25" name="Text 23"/>
          <p:cNvSpPr/>
          <p:nvPr/>
        </p:nvSpPr>
        <p:spPr>
          <a:xfrm>
            <a:off x="2834640" y="3813048"/>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property_type, room_type, bed_type, cancellation_policy, city</a:t>
            </a:r>
            <a:endParaRPr lang="en-US" sz="1100" dirty="0"/>
          </a:p>
        </p:txBody>
      </p:sp>
      <p:sp>
        <p:nvSpPr>
          <p:cNvPr id="26" name="Shape 24"/>
          <p:cNvSpPr/>
          <p:nvPr/>
        </p:nvSpPr>
        <p:spPr>
          <a:xfrm>
            <a:off x="731520" y="4288536"/>
            <a:ext cx="54864" cy="347472"/>
          </a:xfrm>
          <a:prstGeom prst="rect">
            <a:avLst/>
          </a:prstGeom>
          <a:solidFill>
            <a:srgbClr val="065A82"/>
          </a:solidFill>
          <a:ln/>
        </p:spPr>
        <p:txBody>
          <a:bodyPr/>
          <a:lstStyle/>
          <a:p>
            <a:endParaRPr lang="en-US"/>
          </a:p>
        </p:txBody>
      </p:sp>
      <p:sp>
        <p:nvSpPr>
          <p:cNvPr id="27" name="Text 25"/>
          <p:cNvSpPr/>
          <p:nvPr/>
        </p:nvSpPr>
        <p:spPr>
          <a:xfrm>
            <a:off x="960120" y="4288536"/>
            <a:ext cx="1828800" cy="34747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Scale</a:t>
            </a:r>
            <a:endParaRPr lang="en-US" sz="1200" dirty="0"/>
          </a:p>
        </p:txBody>
      </p:sp>
      <p:sp>
        <p:nvSpPr>
          <p:cNvPr id="28" name="Text 26"/>
          <p:cNvSpPr/>
          <p:nvPr/>
        </p:nvSpPr>
        <p:spPr>
          <a:xfrm>
            <a:off x="2834640" y="4288536"/>
            <a:ext cx="5669280" cy="34747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StandardScaler fit on train, transform test (no leakage)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8</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Insurance Preprocessing Pipeline</a:t>
            </a:r>
            <a:endParaRPr lang="en-US" sz="2600" dirty="0"/>
          </a:p>
        </p:txBody>
      </p:sp>
      <p:sp>
        <p:nvSpPr>
          <p:cNvPr id="5" name="Shape 3"/>
          <p:cNvSpPr/>
          <p:nvPr/>
        </p:nvSpPr>
        <p:spPr>
          <a:xfrm>
            <a:off x="731520" y="1005840"/>
            <a:ext cx="54864" cy="384048"/>
          </a:xfrm>
          <a:prstGeom prst="rect">
            <a:avLst/>
          </a:prstGeom>
          <a:solidFill>
            <a:srgbClr val="1C7293"/>
          </a:solidFill>
          <a:ln/>
        </p:spPr>
        <p:txBody>
          <a:bodyPr/>
          <a:lstStyle/>
          <a:p>
            <a:endParaRPr lang="en-US"/>
          </a:p>
        </p:txBody>
      </p:sp>
      <p:sp>
        <p:nvSpPr>
          <p:cNvPr id="6" name="Text 4"/>
          <p:cNvSpPr/>
          <p:nvPr/>
        </p:nvSpPr>
        <p:spPr>
          <a:xfrm>
            <a:off x="960120" y="100584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Log transform target</a:t>
            </a:r>
            <a:endParaRPr lang="en-US" sz="1200" dirty="0"/>
          </a:p>
        </p:txBody>
      </p:sp>
      <p:sp>
        <p:nvSpPr>
          <p:cNvPr id="7" name="Text 5"/>
          <p:cNvSpPr/>
          <p:nvPr/>
        </p:nvSpPr>
        <p:spPr>
          <a:xfrm>
            <a:off x="3291840" y="100584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charges skew 1.51 → log_charges skew -0.09 (nearly symmetric)</a:t>
            </a:r>
            <a:endParaRPr lang="en-US" sz="1100" dirty="0"/>
          </a:p>
        </p:txBody>
      </p:sp>
      <p:sp>
        <p:nvSpPr>
          <p:cNvPr id="8" name="Shape 6"/>
          <p:cNvSpPr/>
          <p:nvPr/>
        </p:nvSpPr>
        <p:spPr>
          <a:xfrm>
            <a:off x="731520" y="1508760"/>
            <a:ext cx="54864" cy="384048"/>
          </a:xfrm>
          <a:prstGeom prst="rect">
            <a:avLst/>
          </a:prstGeom>
          <a:solidFill>
            <a:srgbClr val="1C7293"/>
          </a:solidFill>
          <a:ln/>
        </p:spPr>
        <p:txBody>
          <a:bodyPr/>
          <a:lstStyle/>
          <a:p>
            <a:endParaRPr lang="en-US"/>
          </a:p>
        </p:txBody>
      </p:sp>
      <p:sp>
        <p:nvSpPr>
          <p:cNvPr id="9" name="Text 7"/>
          <p:cNvSpPr/>
          <p:nvPr/>
        </p:nvSpPr>
        <p:spPr>
          <a:xfrm>
            <a:off x="960120" y="150876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Binary encode</a:t>
            </a:r>
            <a:endParaRPr lang="en-US" sz="1200" dirty="0"/>
          </a:p>
        </p:txBody>
      </p:sp>
      <p:sp>
        <p:nvSpPr>
          <p:cNvPr id="10" name="Text 8"/>
          <p:cNvSpPr/>
          <p:nvPr/>
        </p:nvSpPr>
        <p:spPr>
          <a:xfrm>
            <a:off x="3291840" y="150876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sex (male=1, female=0), smoker (yes=1, no=0)</a:t>
            </a:r>
            <a:endParaRPr lang="en-US" sz="1100" dirty="0"/>
          </a:p>
        </p:txBody>
      </p:sp>
      <p:sp>
        <p:nvSpPr>
          <p:cNvPr id="11" name="Shape 9"/>
          <p:cNvSpPr/>
          <p:nvPr/>
        </p:nvSpPr>
        <p:spPr>
          <a:xfrm>
            <a:off x="731520" y="2011680"/>
            <a:ext cx="54864" cy="384048"/>
          </a:xfrm>
          <a:prstGeom prst="rect">
            <a:avLst/>
          </a:prstGeom>
          <a:solidFill>
            <a:srgbClr val="1C7293"/>
          </a:solidFill>
          <a:ln/>
        </p:spPr>
        <p:txBody>
          <a:bodyPr/>
          <a:lstStyle/>
          <a:p>
            <a:endParaRPr lang="en-US"/>
          </a:p>
        </p:txBody>
      </p:sp>
      <p:sp>
        <p:nvSpPr>
          <p:cNvPr id="12" name="Text 10"/>
          <p:cNvSpPr/>
          <p:nvPr/>
        </p:nvSpPr>
        <p:spPr>
          <a:xfrm>
            <a:off x="960120" y="201168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Interaction feature</a:t>
            </a:r>
            <a:endParaRPr lang="en-US" sz="1200" dirty="0"/>
          </a:p>
        </p:txBody>
      </p:sp>
      <p:sp>
        <p:nvSpPr>
          <p:cNvPr id="13" name="Text 11"/>
          <p:cNvSpPr/>
          <p:nvPr/>
        </p:nvSpPr>
        <p:spPr>
          <a:xfrm>
            <a:off x="3291840" y="201168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smoker_bmi = smoker × bmi (captures non-linear cost effect)</a:t>
            </a:r>
            <a:endParaRPr lang="en-US" sz="1100" dirty="0"/>
          </a:p>
        </p:txBody>
      </p:sp>
      <p:sp>
        <p:nvSpPr>
          <p:cNvPr id="14" name="Shape 12"/>
          <p:cNvSpPr/>
          <p:nvPr/>
        </p:nvSpPr>
        <p:spPr>
          <a:xfrm>
            <a:off x="731520" y="2514600"/>
            <a:ext cx="54864" cy="384048"/>
          </a:xfrm>
          <a:prstGeom prst="rect">
            <a:avLst/>
          </a:prstGeom>
          <a:solidFill>
            <a:srgbClr val="1C7293"/>
          </a:solidFill>
          <a:ln/>
        </p:spPr>
        <p:txBody>
          <a:bodyPr/>
          <a:lstStyle/>
          <a:p>
            <a:endParaRPr lang="en-US"/>
          </a:p>
        </p:txBody>
      </p:sp>
      <p:sp>
        <p:nvSpPr>
          <p:cNvPr id="15" name="Text 13"/>
          <p:cNvSpPr/>
          <p:nvPr/>
        </p:nvSpPr>
        <p:spPr>
          <a:xfrm>
            <a:off x="960120" y="251460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One-hot encode</a:t>
            </a:r>
            <a:endParaRPr lang="en-US" sz="1200" dirty="0"/>
          </a:p>
        </p:txBody>
      </p:sp>
      <p:sp>
        <p:nvSpPr>
          <p:cNvPr id="16" name="Text 14"/>
          <p:cNvSpPr/>
          <p:nvPr/>
        </p:nvSpPr>
        <p:spPr>
          <a:xfrm>
            <a:off x="3291840" y="251460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region (northeast, northwest, southeast, southwest)</a:t>
            </a:r>
            <a:endParaRPr lang="en-US" sz="1100" dirty="0"/>
          </a:p>
        </p:txBody>
      </p:sp>
      <p:sp>
        <p:nvSpPr>
          <p:cNvPr id="17" name="Shape 15"/>
          <p:cNvSpPr/>
          <p:nvPr/>
        </p:nvSpPr>
        <p:spPr>
          <a:xfrm>
            <a:off x="731520" y="3017520"/>
            <a:ext cx="54864" cy="384048"/>
          </a:xfrm>
          <a:prstGeom prst="rect">
            <a:avLst/>
          </a:prstGeom>
          <a:solidFill>
            <a:srgbClr val="1C7293"/>
          </a:solidFill>
          <a:ln/>
        </p:spPr>
        <p:txBody>
          <a:bodyPr/>
          <a:lstStyle/>
          <a:p>
            <a:endParaRPr lang="en-US"/>
          </a:p>
        </p:txBody>
      </p:sp>
      <p:sp>
        <p:nvSpPr>
          <p:cNvPr id="18" name="Text 16"/>
          <p:cNvSpPr/>
          <p:nvPr/>
        </p:nvSpPr>
        <p:spPr>
          <a:xfrm>
            <a:off x="960120" y="301752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Train/test split</a:t>
            </a:r>
            <a:endParaRPr lang="en-US" sz="1200" dirty="0"/>
          </a:p>
        </p:txBody>
      </p:sp>
      <p:sp>
        <p:nvSpPr>
          <p:cNvPr id="19" name="Text 17"/>
          <p:cNvSpPr/>
          <p:nvPr/>
        </p:nvSpPr>
        <p:spPr>
          <a:xfrm>
            <a:off x="3291840" y="301752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80/20 split, random_state=42</a:t>
            </a:r>
            <a:endParaRPr lang="en-US" sz="1100" dirty="0"/>
          </a:p>
        </p:txBody>
      </p:sp>
      <p:sp>
        <p:nvSpPr>
          <p:cNvPr id="20" name="Shape 18"/>
          <p:cNvSpPr/>
          <p:nvPr/>
        </p:nvSpPr>
        <p:spPr>
          <a:xfrm>
            <a:off x="731520" y="3520440"/>
            <a:ext cx="54864" cy="384048"/>
          </a:xfrm>
          <a:prstGeom prst="rect">
            <a:avLst/>
          </a:prstGeom>
          <a:solidFill>
            <a:srgbClr val="1C7293"/>
          </a:solidFill>
          <a:ln/>
        </p:spPr>
        <p:txBody>
          <a:bodyPr/>
          <a:lstStyle/>
          <a:p>
            <a:endParaRPr lang="en-US"/>
          </a:p>
        </p:txBody>
      </p:sp>
      <p:sp>
        <p:nvSpPr>
          <p:cNvPr id="21" name="Text 19"/>
          <p:cNvSpPr/>
          <p:nvPr/>
        </p:nvSpPr>
        <p:spPr>
          <a:xfrm>
            <a:off x="960120" y="3520440"/>
            <a:ext cx="2286000" cy="38404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Scale</a:t>
            </a:r>
            <a:endParaRPr lang="en-US" sz="1200" dirty="0"/>
          </a:p>
        </p:txBody>
      </p:sp>
      <p:sp>
        <p:nvSpPr>
          <p:cNvPr id="22" name="Text 20"/>
          <p:cNvSpPr/>
          <p:nvPr/>
        </p:nvSpPr>
        <p:spPr>
          <a:xfrm>
            <a:off x="3291840" y="3520440"/>
            <a:ext cx="53035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StandardScaler fit on train, transform test</a:t>
            </a:r>
            <a:endParaRPr lang="en-US" sz="1100" dirty="0"/>
          </a:p>
        </p:txBody>
      </p:sp>
      <p:sp>
        <p:nvSpPr>
          <p:cNvPr id="23" name="Text 21"/>
          <p:cNvSpPr/>
          <p:nvPr/>
        </p:nvSpPr>
        <p:spPr>
          <a:xfrm>
            <a:off x="731520" y="3840480"/>
            <a:ext cx="7680960" cy="457200"/>
          </a:xfrm>
          <a:prstGeom prst="rect">
            <a:avLst/>
          </a:prstGeom>
          <a:noFill/>
          <a:ln/>
        </p:spPr>
        <p:txBody>
          <a:bodyPr wrap="square" lIns="0" tIns="0" rIns="0" bIns="0" rtlCol="0" anchor="ctr"/>
          <a:lstStyle/>
          <a:p>
            <a:pPr marL="0" indent="0">
              <a:buNone/>
            </a:pPr>
            <a:r>
              <a:rPr lang="en-US" sz="1200" i="1" dirty="0">
                <a:solidFill>
                  <a:srgbClr val="EA580C"/>
                </a:solidFill>
                <a:latin typeface="Calibri" pitchFamily="34" charset="0"/>
                <a:ea typeface="Calibri" pitchFamily="34" charset="-122"/>
                <a:cs typeface="Calibri" pitchFamily="34" charset="-120"/>
              </a:rPr>
              <a:t>Key insight: Smokers pay 3.8× more on average. The smoker × BMI interaction captures that high-BMI smokers pay dramatically more than low-BMI smokers.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9</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Airbnb: Exploratory Analysis</a:t>
            </a:r>
            <a:endParaRPr lang="en-US" sz="2600" dirty="0"/>
          </a:p>
        </p:txBody>
      </p:sp>
      <p:pic>
        <p:nvPicPr>
          <p:cNvPr id="5" name="Image 0" descr="/sessions/gracious-practical-brahmagupta/mnt/Project 1/outputs/final_plots/nb_airbnb_target.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10</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Insurance: Exploratory Analysis</a:t>
            </a:r>
            <a:endParaRPr lang="en-US" sz="2600" dirty="0"/>
          </a:p>
        </p:txBody>
      </p:sp>
      <p:pic>
        <p:nvPicPr>
          <p:cNvPr id="5" name="Image 0" descr="/sessions/gracious-practical-brahmagupta/mnt/Project 1/outputs/final_plots/nb_insurance_eda.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 Simulated Annealing</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Custom AutoML implementation from scratch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12</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SA: Search Space Design</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950720"/>
        </p:xfrm>
        <a:graphic>
          <a:graphicData uri="http://schemas.openxmlformats.org/drawingml/2006/table">
            <a:tbl>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Key Hyperparameters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Combinations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RandomForest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n_estimators, max_depth, min_samples_split/leaf, max_features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2,880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GradientBoosting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n_estimators, learning_rate, max_depth, subsample, min_samples_split, max_features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5,400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n_estimators, learning_rate, max_depth, subsample, colsample, reg_alpha/lambda</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38,400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alpha, fit_intercept, solver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ElasticNet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alpha, l1_ratio, max_iter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KNN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n_neighbors, weights, p</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r">
                        <a:buNone/>
                      </a:pPr>
                      <a:r>
                        <a:rPr lang="en-US" sz="1100" dirty="0">
                          <a:solidFill>
                            <a:srgbClr val="1E293B"/>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731520" y="3383280"/>
            <a:ext cx="7680960" cy="320040"/>
          </a:xfrm>
          <a:prstGeom prst="rect">
            <a:avLst/>
          </a:prstGeom>
          <a:noFill/>
          <a:ln/>
        </p:spPr>
        <p:txBody>
          <a:bodyPr wrap="square" lIns="0" tIns="0" rIns="0" bIns="0"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Total: ~46,830 configurations × 5-fold CV = 234,150 model fits. Grid search at 2s/fit = ~130 hours.</a:t>
            </a:r>
            <a:endParaRPr lang="en-US" sz="1200" dirty="0"/>
          </a:p>
        </p:txBody>
      </p:sp>
      <p:sp>
        <p:nvSpPr>
          <p:cNvPr id="7" name="Text 4"/>
          <p:cNvSpPr/>
          <p:nvPr/>
        </p:nvSpPr>
        <p:spPr>
          <a:xfrm>
            <a:off x="731520" y="3749040"/>
            <a:ext cx="7680960" cy="320040"/>
          </a:xfrm>
          <a:prstGeom prst="rect">
            <a:avLst/>
          </a:prstGeom>
          <a:noFill/>
          <a:ln/>
        </p:spPr>
        <p:txBody>
          <a:bodyPr wrap="square" lIns="0" tIns="0" rIns="0" bIns="0"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SA explores this space intelligently in 1 hour per dataset.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13</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SA: Algorithm Pseudocode</a:t>
            </a:r>
            <a:endParaRPr lang="en-US" sz="2600" dirty="0"/>
          </a:p>
        </p:txBody>
      </p:sp>
      <p:sp>
        <p:nvSpPr>
          <p:cNvPr id="5" name="Shape 3"/>
          <p:cNvSpPr/>
          <p:nvPr/>
        </p:nvSpPr>
        <p:spPr>
          <a:xfrm>
            <a:off x="457200" y="960120"/>
            <a:ext cx="822960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731520" y="109728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1.  Initialize random solution (algorithm + hyperparameters)</a:t>
            </a:r>
            <a:endParaRPr lang="en-US" sz="1200" dirty="0"/>
          </a:p>
        </p:txBody>
      </p:sp>
      <p:sp>
        <p:nvSpPr>
          <p:cNvPr id="7" name="Text 5"/>
          <p:cNvSpPr/>
          <p:nvPr/>
        </p:nvSpPr>
        <p:spPr>
          <a:xfrm>
            <a:off x="731520" y="1389888"/>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2.  Evaluate with 5-fold Cross-Validation → RMSE</a:t>
            </a:r>
            <a:endParaRPr lang="en-US" sz="1200" dirty="0"/>
          </a:p>
        </p:txBody>
      </p:sp>
      <p:sp>
        <p:nvSpPr>
          <p:cNvPr id="8" name="Text 6"/>
          <p:cNvSpPr/>
          <p:nvPr/>
        </p:nvSpPr>
        <p:spPr>
          <a:xfrm>
            <a:off x="731520" y="1682496"/>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3.  Set temperature T = T₀ = 1.0</a:t>
            </a:r>
            <a:endParaRPr lang="en-US" sz="1200" dirty="0"/>
          </a:p>
        </p:txBody>
      </p:sp>
      <p:sp>
        <p:nvSpPr>
          <p:cNvPr id="9" name="Text 7"/>
          <p:cNvSpPr/>
          <p:nvPr/>
        </p:nvSpPr>
        <p:spPr>
          <a:xfrm>
            <a:off x="731520" y="1975104"/>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4.  WHILE time_budget not exceeded:</a:t>
            </a:r>
            <a:endParaRPr lang="en-US" sz="1200" dirty="0"/>
          </a:p>
        </p:txBody>
      </p:sp>
      <p:sp>
        <p:nvSpPr>
          <p:cNvPr id="10" name="Text 8"/>
          <p:cNvSpPr/>
          <p:nvPr/>
        </p:nvSpPr>
        <p:spPr>
          <a:xfrm>
            <a:off x="1097280" y="2267712"/>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5.      Generate neighbor (80% tweak HP, 20% switch algorithm)</a:t>
            </a:r>
            <a:endParaRPr lang="en-US" sz="1200" dirty="0"/>
          </a:p>
        </p:txBody>
      </p:sp>
      <p:sp>
        <p:nvSpPr>
          <p:cNvPr id="11" name="Text 9"/>
          <p:cNvSpPr/>
          <p:nvPr/>
        </p:nvSpPr>
        <p:spPr>
          <a:xfrm>
            <a:off x="1097280" y="256032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6.      Evaluate neighbor → new_RMSE</a:t>
            </a:r>
            <a:endParaRPr lang="en-US" sz="1200" dirty="0"/>
          </a:p>
        </p:txBody>
      </p:sp>
      <p:sp>
        <p:nvSpPr>
          <p:cNvPr id="12" name="Text 10"/>
          <p:cNvSpPr/>
          <p:nvPr/>
        </p:nvSpPr>
        <p:spPr>
          <a:xfrm>
            <a:off x="1097280" y="2852928"/>
            <a:ext cx="7315200" cy="274320"/>
          </a:xfrm>
          <a:prstGeom prst="rect">
            <a:avLst/>
          </a:prstGeom>
          <a:noFill/>
          <a:ln/>
        </p:spPr>
        <p:txBody>
          <a:bodyPr wrap="square" lIns="0" tIns="0" rIns="0" bIns="0" rtlCol="0" anchor="ctr"/>
          <a:lstStyle/>
          <a:p>
            <a:pPr marL="0" indent="0">
              <a:buNone/>
            </a:pPr>
            <a:r>
              <a:rPr lang="en-US" sz="1200" dirty="0">
                <a:solidFill>
                  <a:srgbClr val="059669"/>
                </a:solidFill>
                <a:latin typeface="Consolas" pitchFamily="34" charset="0"/>
                <a:ea typeface="Consolas" pitchFamily="34" charset="-122"/>
                <a:cs typeface="Consolas" pitchFamily="34" charset="-120"/>
              </a:rPr>
              <a:t>7.      IF new_RMSE &lt; current_RMSE:  ACCEPT (improvement)</a:t>
            </a:r>
            <a:endParaRPr lang="en-US" sz="1200" dirty="0"/>
          </a:p>
        </p:txBody>
      </p:sp>
      <p:sp>
        <p:nvSpPr>
          <p:cNvPr id="13" name="Text 11"/>
          <p:cNvSpPr/>
          <p:nvPr/>
        </p:nvSpPr>
        <p:spPr>
          <a:xfrm>
            <a:off x="1097280" y="3145536"/>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8.      ELSE:  accept with probability P = exp(-Δ/T)</a:t>
            </a:r>
            <a:endParaRPr lang="en-US" sz="1200" dirty="0"/>
          </a:p>
        </p:txBody>
      </p:sp>
      <p:sp>
        <p:nvSpPr>
          <p:cNvPr id="14" name="Text 12"/>
          <p:cNvSpPr/>
          <p:nvPr/>
        </p:nvSpPr>
        <p:spPr>
          <a:xfrm>
            <a:off x="1097280" y="3438144"/>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9.      T = T × cooling_rate (0.97)</a:t>
            </a:r>
            <a:endParaRPr lang="en-US" sz="1200" dirty="0"/>
          </a:p>
        </p:txBody>
      </p:sp>
      <p:sp>
        <p:nvSpPr>
          <p:cNvPr id="15" name="Text 13"/>
          <p:cNvSpPr/>
          <p:nvPr/>
        </p:nvSpPr>
        <p:spPr>
          <a:xfrm>
            <a:off x="1097280" y="3730752"/>
            <a:ext cx="7315200" cy="274320"/>
          </a:xfrm>
          <a:prstGeom prst="rect">
            <a:avLst/>
          </a:prstGeom>
          <a:noFill/>
          <a:ln/>
        </p:spPr>
        <p:txBody>
          <a:bodyPr wrap="square" lIns="0" tIns="0" rIns="0" bIns="0" rtlCol="0" anchor="ctr"/>
          <a:lstStyle/>
          <a:p>
            <a:pPr marL="0" indent="0">
              <a:buNone/>
            </a:pPr>
            <a:r>
              <a:rPr lang="en-US" sz="1200" dirty="0">
                <a:solidFill>
                  <a:srgbClr val="EA580C"/>
                </a:solidFill>
                <a:latin typeface="Consolas" pitchFamily="34" charset="0"/>
                <a:ea typeface="Consolas" pitchFamily="34" charset="-122"/>
                <a:cs typeface="Consolas" pitchFamily="34" charset="-120"/>
              </a:rPr>
              <a:t>10.     IF T &lt; T_min:  REHEAT (T = T₀ × 0.5ⁿ)</a:t>
            </a:r>
            <a:endParaRPr lang="en-US" sz="1200" dirty="0"/>
          </a:p>
        </p:txBody>
      </p:sp>
      <p:sp>
        <p:nvSpPr>
          <p:cNvPr id="16" name="Text 14"/>
          <p:cNvSpPr/>
          <p:nvPr/>
        </p:nvSpPr>
        <p:spPr>
          <a:xfrm>
            <a:off x="731520" y="4023360"/>
            <a:ext cx="7315200" cy="274320"/>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11. RETURN best solution found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14</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SA: Key Design Decisions</a:t>
            </a:r>
            <a:endParaRPr lang="en-US" sz="2600" dirty="0"/>
          </a:p>
        </p:txBody>
      </p:sp>
      <p:sp>
        <p:nvSpPr>
          <p:cNvPr id="5" name="Shape 3"/>
          <p:cNvSpPr/>
          <p:nvPr/>
        </p:nvSpPr>
        <p:spPr>
          <a:xfrm>
            <a:off x="731520" y="100584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731520" y="1005840"/>
            <a:ext cx="64008" cy="658368"/>
          </a:xfrm>
          <a:prstGeom prst="rect">
            <a:avLst/>
          </a:prstGeom>
          <a:solidFill>
            <a:srgbClr val="065A82"/>
          </a:solidFill>
          <a:ln/>
        </p:spPr>
        <p:txBody>
          <a:bodyPr/>
          <a:lstStyle/>
          <a:p>
            <a:endParaRPr lang="en-US"/>
          </a:p>
        </p:txBody>
      </p:sp>
      <p:sp>
        <p:nvSpPr>
          <p:cNvPr id="7" name="Text 5"/>
          <p:cNvSpPr/>
          <p:nvPr/>
        </p:nvSpPr>
        <p:spPr>
          <a:xfrm>
            <a:off x="1005840" y="1051560"/>
            <a:ext cx="2743200" cy="25603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Neighbor Strategy</a:t>
            </a:r>
            <a:endParaRPr lang="en-US" sz="1300" dirty="0"/>
          </a:p>
        </p:txBody>
      </p:sp>
      <p:sp>
        <p:nvSpPr>
          <p:cNvPr id="8" name="Text 6"/>
          <p:cNvSpPr/>
          <p:nvPr/>
        </p:nvSpPr>
        <p:spPr>
          <a:xfrm>
            <a:off x="1005840" y="130759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80% tweak one HP (exploit) / 20% switch algorithm (explore). Adjacent step (50%) or random jump (50%).</a:t>
            </a:r>
            <a:endParaRPr lang="en-US" sz="1100" dirty="0"/>
          </a:p>
        </p:txBody>
      </p:sp>
      <p:sp>
        <p:nvSpPr>
          <p:cNvPr id="9" name="Shape 7"/>
          <p:cNvSpPr/>
          <p:nvPr/>
        </p:nvSpPr>
        <p:spPr>
          <a:xfrm>
            <a:off x="731520" y="178308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731520" y="1783080"/>
            <a:ext cx="64008" cy="658368"/>
          </a:xfrm>
          <a:prstGeom prst="rect">
            <a:avLst/>
          </a:prstGeom>
          <a:solidFill>
            <a:srgbClr val="1C7293"/>
          </a:solidFill>
          <a:ln/>
        </p:spPr>
        <p:txBody>
          <a:bodyPr/>
          <a:lstStyle/>
          <a:p>
            <a:endParaRPr lang="en-US"/>
          </a:p>
        </p:txBody>
      </p:sp>
      <p:sp>
        <p:nvSpPr>
          <p:cNvPr id="11" name="Text 9"/>
          <p:cNvSpPr/>
          <p:nvPr/>
        </p:nvSpPr>
        <p:spPr>
          <a:xfrm>
            <a:off x="1005840" y="1828800"/>
            <a:ext cx="2743200" cy="25603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Cooling Schedule</a:t>
            </a:r>
            <a:endParaRPr lang="en-US" sz="1300" dirty="0"/>
          </a:p>
        </p:txBody>
      </p:sp>
      <p:sp>
        <p:nvSpPr>
          <p:cNvPr id="12" name="Text 10"/>
          <p:cNvSpPr/>
          <p:nvPr/>
        </p:nvSpPr>
        <p:spPr>
          <a:xfrm>
            <a:off x="1005840" y="208483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Geometric: T = T × 0.97 per iteration. Temperature drops from 1.0 to 0.0001 in ~303 iterations.</a:t>
            </a:r>
            <a:endParaRPr lang="en-US" sz="1100" dirty="0"/>
          </a:p>
        </p:txBody>
      </p:sp>
      <p:sp>
        <p:nvSpPr>
          <p:cNvPr id="13" name="Shape 11"/>
          <p:cNvSpPr/>
          <p:nvPr/>
        </p:nvSpPr>
        <p:spPr>
          <a:xfrm>
            <a:off x="731520" y="256032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731520" y="2560320"/>
            <a:ext cx="64008" cy="658368"/>
          </a:xfrm>
          <a:prstGeom prst="rect">
            <a:avLst/>
          </a:prstGeom>
          <a:solidFill>
            <a:srgbClr val="EA580C"/>
          </a:solidFill>
          <a:ln/>
        </p:spPr>
        <p:txBody>
          <a:bodyPr/>
          <a:lstStyle/>
          <a:p>
            <a:endParaRPr lang="en-US"/>
          </a:p>
        </p:txBody>
      </p:sp>
      <p:sp>
        <p:nvSpPr>
          <p:cNvPr id="15" name="Text 13"/>
          <p:cNvSpPr/>
          <p:nvPr/>
        </p:nvSpPr>
        <p:spPr>
          <a:xfrm>
            <a:off x="1005840" y="2606040"/>
            <a:ext cx="2743200" cy="25603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Reheat Mechanism</a:t>
            </a:r>
            <a:endParaRPr lang="en-US" sz="1300" dirty="0"/>
          </a:p>
        </p:txBody>
      </p:sp>
      <p:sp>
        <p:nvSpPr>
          <p:cNvPr id="16" name="Text 14"/>
          <p:cNvSpPr/>
          <p:nvPr/>
        </p:nvSpPr>
        <p:spPr>
          <a:xfrm>
            <a:off x="1005840" y="286207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When T &lt; T_min, reheat to T₀ × 0.5ⁿ. Prevents premature convergence. Allows SA to use full time budget.</a:t>
            </a:r>
            <a:endParaRPr lang="en-US" sz="1100" dirty="0"/>
          </a:p>
        </p:txBody>
      </p:sp>
      <p:sp>
        <p:nvSpPr>
          <p:cNvPr id="17" name="Shape 15"/>
          <p:cNvSpPr/>
          <p:nvPr/>
        </p:nvSpPr>
        <p:spPr>
          <a:xfrm>
            <a:off x="731520" y="333756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731520" y="3337560"/>
            <a:ext cx="64008" cy="658368"/>
          </a:xfrm>
          <a:prstGeom prst="rect">
            <a:avLst/>
          </a:prstGeom>
          <a:solidFill>
            <a:srgbClr val="059669"/>
          </a:solidFill>
          <a:ln/>
        </p:spPr>
        <p:txBody>
          <a:bodyPr/>
          <a:lstStyle/>
          <a:p>
            <a:endParaRPr lang="en-US"/>
          </a:p>
        </p:txBody>
      </p:sp>
      <p:sp>
        <p:nvSpPr>
          <p:cNvPr id="19" name="Text 17"/>
          <p:cNvSpPr/>
          <p:nvPr/>
        </p:nvSpPr>
        <p:spPr>
          <a:xfrm>
            <a:off x="1005840" y="3383280"/>
            <a:ext cx="2743200" cy="25603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Caching</a:t>
            </a:r>
            <a:endParaRPr lang="en-US" sz="1300" dirty="0"/>
          </a:p>
        </p:txBody>
      </p:sp>
      <p:sp>
        <p:nvSpPr>
          <p:cNvPr id="20" name="Text 18"/>
          <p:cNvSpPr/>
          <p:nvPr/>
        </p:nvSpPr>
        <p:spPr>
          <a:xfrm>
            <a:off x="1005840" y="363931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In-memory cache of evaluated configurations. SA often revisits similar configs — cache avoids re-training.</a:t>
            </a:r>
            <a:endParaRPr lang="en-US" sz="1100" dirty="0"/>
          </a:p>
        </p:txBody>
      </p:sp>
      <p:sp>
        <p:nvSpPr>
          <p:cNvPr id="21" name="Shape 19"/>
          <p:cNvSpPr/>
          <p:nvPr/>
        </p:nvSpPr>
        <p:spPr>
          <a:xfrm>
            <a:off x="731520" y="411480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20"/>
          <p:cNvSpPr/>
          <p:nvPr/>
        </p:nvSpPr>
        <p:spPr>
          <a:xfrm>
            <a:off x="731520" y="4114800"/>
            <a:ext cx="64008" cy="658368"/>
          </a:xfrm>
          <a:prstGeom prst="rect">
            <a:avLst/>
          </a:prstGeom>
          <a:solidFill>
            <a:srgbClr val="21295C"/>
          </a:solidFill>
          <a:ln/>
        </p:spPr>
        <p:txBody>
          <a:bodyPr/>
          <a:lstStyle/>
          <a:p>
            <a:endParaRPr lang="en-US"/>
          </a:p>
        </p:txBody>
      </p:sp>
      <p:sp>
        <p:nvSpPr>
          <p:cNvPr id="23" name="Text 21"/>
          <p:cNvSpPr/>
          <p:nvPr/>
        </p:nvSpPr>
        <p:spPr>
          <a:xfrm>
            <a:off x="1005840" y="4160520"/>
            <a:ext cx="2743200" cy="256032"/>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Time-bounded</a:t>
            </a:r>
            <a:endParaRPr lang="en-US" sz="1300" dirty="0"/>
          </a:p>
        </p:txBody>
      </p:sp>
      <p:sp>
        <p:nvSpPr>
          <p:cNvPr id="24" name="Text 22"/>
          <p:cNvSpPr/>
          <p:nvPr/>
        </p:nvSpPr>
        <p:spPr>
          <a:xfrm>
            <a:off x="1005840" y="441655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Primary stop condition is wall-clock time (3600s). Adapts to dataset size automatically.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15</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SA: Convergence Analysis</a:t>
            </a:r>
            <a:endParaRPr lang="en-US" sz="2600" dirty="0"/>
          </a:p>
        </p:txBody>
      </p:sp>
      <p:pic>
        <p:nvPicPr>
          <p:cNvPr id="5" name="Image 0" descr="/sessions/gracious-practical-brahmagupta/mnt/Project 1/outputs/final_plots/nb_sa_convergence.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4. FLAML &amp; TPOT Comparison</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State-of-the-art AutoML systems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17</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Comparison Methods</a:t>
            </a:r>
            <a:endParaRPr lang="en-US" sz="2600" dirty="0"/>
          </a:p>
        </p:txBody>
      </p:sp>
      <p:sp>
        <p:nvSpPr>
          <p:cNvPr id="5" name="Shape 3"/>
          <p:cNvSpPr/>
          <p:nvPr/>
        </p:nvSpPr>
        <p:spPr>
          <a:xfrm>
            <a:off x="457200" y="100584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457200" y="1005840"/>
            <a:ext cx="3931920" cy="54864"/>
          </a:xfrm>
          <a:prstGeom prst="rect">
            <a:avLst/>
          </a:prstGeom>
          <a:solidFill>
            <a:srgbClr val="065A82"/>
          </a:solidFill>
          <a:ln/>
        </p:spPr>
        <p:txBody>
          <a:bodyPr/>
          <a:lstStyle/>
          <a:p>
            <a:endParaRPr lang="en-US"/>
          </a:p>
        </p:txBody>
      </p:sp>
      <p:sp>
        <p:nvSpPr>
          <p:cNvPr id="7" name="Text 5"/>
          <p:cNvSpPr/>
          <p:nvPr/>
        </p:nvSpPr>
        <p:spPr>
          <a:xfrm>
            <a:off x="640080" y="1143000"/>
            <a:ext cx="3657600" cy="365760"/>
          </a:xfrm>
          <a:prstGeom prst="rect">
            <a:avLst/>
          </a:prstGeom>
          <a:noFill/>
          <a:ln/>
        </p:spPr>
        <p:txBody>
          <a:bodyPr wrap="square" lIns="0" tIns="0" rIns="0" bIns="0" rtlCol="0" anchor="ctr"/>
          <a:lstStyle/>
          <a:p>
            <a:pPr marL="0" indent="0">
              <a:buNone/>
            </a:pPr>
            <a:r>
              <a:rPr lang="en-US" sz="2200" b="1" dirty="0">
                <a:solidFill>
                  <a:srgbClr val="065A82"/>
                </a:solidFill>
                <a:latin typeface="Georgia" pitchFamily="34" charset="0"/>
                <a:ea typeface="Georgia" pitchFamily="34" charset="-122"/>
                <a:cs typeface="Georgia" pitchFamily="34" charset="-120"/>
              </a:rPr>
              <a:t>FLAML</a:t>
            </a:r>
            <a:endParaRPr lang="en-US" sz="2200" dirty="0"/>
          </a:p>
        </p:txBody>
      </p:sp>
      <p:sp>
        <p:nvSpPr>
          <p:cNvPr id="8" name="Text 6"/>
          <p:cNvSpPr/>
          <p:nvPr/>
        </p:nvSpPr>
        <p:spPr>
          <a:xfrm>
            <a:off x="640080" y="1508760"/>
            <a:ext cx="356616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Fast &amp; Lightweight AutoML (Wang et al. 2021)</a:t>
            </a:r>
            <a:endParaRPr lang="en-US" sz="1100" dirty="0"/>
          </a:p>
        </p:txBody>
      </p:sp>
      <p:sp>
        <p:nvSpPr>
          <p:cNvPr id="9" name="Text 7"/>
          <p:cNvSpPr/>
          <p:nvPr/>
        </p:nvSpPr>
        <p:spPr>
          <a:xfrm>
            <a:off x="640080" y="1920240"/>
            <a:ext cx="3566160" cy="20116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Search: Cost-Frugal Optimization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Starts with cheap models, escalates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Estimators: xgboost, rf, extra_tree, kneighbor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Time budget: 3600s per dataset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5-fold CV, RMSE metric</a:t>
            </a:r>
            <a:endParaRPr lang="en-US" sz="1200" dirty="0"/>
          </a:p>
        </p:txBody>
      </p:sp>
      <p:sp>
        <p:nvSpPr>
          <p:cNvPr id="10" name="Shape 8"/>
          <p:cNvSpPr/>
          <p:nvPr/>
        </p:nvSpPr>
        <p:spPr>
          <a:xfrm>
            <a:off x="4754880" y="100584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4754880" y="1005840"/>
            <a:ext cx="3931920" cy="54864"/>
          </a:xfrm>
          <a:prstGeom prst="rect">
            <a:avLst/>
          </a:prstGeom>
          <a:solidFill>
            <a:srgbClr val="1C7293"/>
          </a:solidFill>
          <a:ln/>
        </p:spPr>
        <p:txBody>
          <a:bodyPr/>
          <a:lstStyle/>
          <a:p>
            <a:endParaRPr lang="en-US"/>
          </a:p>
        </p:txBody>
      </p:sp>
      <p:sp>
        <p:nvSpPr>
          <p:cNvPr id="12" name="Text 10"/>
          <p:cNvSpPr/>
          <p:nvPr/>
        </p:nvSpPr>
        <p:spPr>
          <a:xfrm>
            <a:off x="4937760" y="1143000"/>
            <a:ext cx="3657600" cy="365760"/>
          </a:xfrm>
          <a:prstGeom prst="rect">
            <a:avLst/>
          </a:prstGeom>
          <a:noFill/>
          <a:ln/>
        </p:spPr>
        <p:txBody>
          <a:bodyPr wrap="square" lIns="0" tIns="0" rIns="0" bIns="0" rtlCol="0" anchor="ctr"/>
          <a:lstStyle/>
          <a:p>
            <a:pPr marL="0" indent="0">
              <a:buNone/>
            </a:pPr>
            <a:r>
              <a:rPr lang="en-US" sz="2200" b="1" dirty="0">
                <a:solidFill>
                  <a:srgbClr val="1C7293"/>
                </a:solidFill>
                <a:latin typeface="Georgia" pitchFamily="34" charset="0"/>
                <a:ea typeface="Georgia" pitchFamily="34" charset="-122"/>
                <a:cs typeface="Georgia" pitchFamily="34" charset="-120"/>
              </a:rPr>
              <a:t>TPOT</a:t>
            </a:r>
            <a:endParaRPr lang="en-US" sz="2200" dirty="0"/>
          </a:p>
        </p:txBody>
      </p:sp>
      <p:sp>
        <p:nvSpPr>
          <p:cNvPr id="13" name="Text 11"/>
          <p:cNvSpPr/>
          <p:nvPr/>
        </p:nvSpPr>
        <p:spPr>
          <a:xfrm>
            <a:off x="4937760" y="1508760"/>
            <a:ext cx="356616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Genetic Programming AutoML (Le et al. 2020)</a:t>
            </a:r>
            <a:endParaRPr lang="en-US" sz="1100" dirty="0"/>
          </a:p>
        </p:txBody>
      </p:sp>
      <p:sp>
        <p:nvSpPr>
          <p:cNvPr id="14" name="Text 12"/>
          <p:cNvSpPr/>
          <p:nvPr/>
        </p:nvSpPr>
        <p:spPr>
          <a:xfrm>
            <a:off x="4937760" y="1920240"/>
            <a:ext cx="3566160" cy="20116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Search: Genetic Programming (evolution)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Evolves entire ML pipelines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Includes preprocessing in search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12+ regressors (RF, XGB, KNN, Ridge...)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Time budget: 60 min per dataset</a:t>
            </a:r>
            <a:endParaRPr lang="en-US" sz="1200" dirty="0"/>
          </a:p>
        </p:txBody>
      </p:sp>
      <p:sp>
        <p:nvSpPr>
          <p:cNvPr id="15" name="Text 13"/>
          <p:cNvSpPr/>
          <p:nvPr/>
        </p:nvSpPr>
        <p:spPr>
          <a:xfrm>
            <a:off x="457200" y="4343400"/>
            <a:ext cx="8229600" cy="320040"/>
          </a:xfrm>
          <a:prstGeom prst="rect">
            <a:avLst/>
          </a:prstGeom>
          <a:noFill/>
          <a:ln/>
        </p:spPr>
        <p:txBody>
          <a:bodyPr wrap="square" lIns="0" tIns="0" rIns="0" bIns="0"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Fair comparison: All three methods have access to the same algorithm families (RF, XGBoost, KNN, linear models)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5. Results &amp; Analysis</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Performance comparison across all methods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19</a:t>
            </a:r>
            <a:endParaRPr lang="en-US" sz="900" dirty="0"/>
          </a:p>
        </p:txBody>
      </p:sp>
      <p:sp>
        <p:nvSpPr>
          <p:cNvPr id="4" name="Text 2"/>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Final Results</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822960"/>
          <a:ext cx="7498080" cy="2331720"/>
        </p:xfrm>
        <a:graphic>
          <a:graphicData uri="http://schemas.openxmlformats.org/drawingml/2006/table">
            <a:tbl>
              <a:tblPr/>
              <a:tblGrid>
                <a:gridCol w="1188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R²</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Best Model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Airbnb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0.7194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0.5627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Airbnb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Custom SA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0.3833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0.2778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0.716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GradientBoosting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Airbnb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FLAML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0.3771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0.2722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0.725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Airbnb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TPOT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0.3928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0.2823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0.702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GP Pipeline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0.9509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0.7824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65A82"/>
                          </a:solidFill>
                          <a:latin typeface="Calibri" pitchFamily="34" charset="0"/>
                          <a:ea typeface="Calibri" pitchFamily="34" charset="-122"/>
                          <a:cs typeface="Calibri" pitchFamily="34" charset="-120"/>
                        </a:rPr>
                        <a:t>Custom SA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0.3477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0.1874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0.866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FLAML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0.3458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0.1849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0.867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TPOT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0.3471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0.1783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0.866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4748B"/>
                          </a:solidFill>
                          <a:latin typeface="Calibri" pitchFamily="34" charset="0"/>
                          <a:ea typeface="Calibri" pitchFamily="34" charset="-122"/>
                          <a:cs typeface="Calibri" pitchFamily="34" charset="-120"/>
                        </a:rPr>
                        <a:t>GP Pipeline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457200" y="3657600"/>
            <a:ext cx="256032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457200" y="3657600"/>
            <a:ext cx="256032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SA vs Baseline</a:t>
            </a:r>
            <a:endParaRPr lang="en-US" sz="1100" dirty="0"/>
          </a:p>
        </p:txBody>
      </p:sp>
      <p:sp>
        <p:nvSpPr>
          <p:cNvPr id="8" name="Text 5"/>
          <p:cNvSpPr/>
          <p:nvPr/>
        </p:nvSpPr>
        <p:spPr>
          <a:xfrm>
            <a:off x="457200" y="3977640"/>
            <a:ext cx="2560320" cy="411480"/>
          </a:xfrm>
          <a:prstGeom prst="rect">
            <a:avLst/>
          </a:prstGeom>
          <a:noFill/>
          <a:ln/>
        </p:spPr>
        <p:txBody>
          <a:bodyPr wrap="square" lIns="0" tIns="0" rIns="0" bIns="0" rtlCol="0" anchor="ctr"/>
          <a:lstStyle/>
          <a:p>
            <a:pPr marL="0" indent="0" algn="ctr">
              <a:buNone/>
            </a:pPr>
            <a:r>
              <a:rPr lang="en-US" sz="1600" b="1" dirty="0">
                <a:solidFill>
                  <a:srgbClr val="059669"/>
                </a:solidFill>
                <a:latin typeface="Calibri" pitchFamily="34" charset="0"/>
                <a:ea typeface="Calibri" pitchFamily="34" charset="-122"/>
                <a:cs typeface="Calibri" pitchFamily="34" charset="-120"/>
              </a:rPr>
              <a:t>47-63% RMSE reduction</a:t>
            </a:r>
            <a:endParaRPr lang="en-US" sz="1600" dirty="0"/>
          </a:p>
        </p:txBody>
      </p:sp>
      <p:sp>
        <p:nvSpPr>
          <p:cNvPr id="9" name="Shape 6"/>
          <p:cNvSpPr/>
          <p:nvPr/>
        </p:nvSpPr>
        <p:spPr>
          <a:xfrm>
            <a:off x="3291840" y="3657600"/>
            <a:ext cx="256032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Text 7"/>
          <p:cNvSpPr/>
          <p:nvPr/>
        </p:nvSpPr>
        <p:spPr>
          <a:xfrm>
            <a:off x="3291840" y="3657600"/>
            <a:ext cx="256032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SA vs FLAML gap</a:t>
            </a:r>
            <a:endParaRPr lang="en-US" sz="1100" dirty="0"/>
          </a:p>
        </p:txBody>
      </p:sp>
      <p:sp>
        <p:nvSpPr>
          <p:cNvPr id="11" name="Text 8"/>
          <p:cNvSpPr/>
          <p:nvPr/>
        </p:nvSpPr>
        <p:spPr>
          <a:xfrm>
            <a:off x="3291840" y="3977640"/>
            <a:ext cx="2560320" cy="411480"/>
          </a:xfrm>
          <a:prstGeom prst="rect">
            <a:avLst/>
          </a:prstGeom>
          <a:noFill/>
          <a:ln/>
        </p:spPr>
        <p:txBody>
          <a:bodyPr wrap="square" lIns="0" tIns="0" rIns="0" bIns="0"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&lt; 2% difference</a:t>
            </a:r>
            <a:endParaRPr lang="en-US" sz="1600" dirty="0"/>
          </a:p>
        </p:txBody>
      </p:sp>
      <p:sp>
        <p:nvSpPr>
          <p:cNvPr id="12" name="Shape 9"/>
          <p:cNvSpPr/>
          <p:nvPr/>
        </p:nvSpPr>
        <p:spPr>
          <a:xfrm>
            <a:off x="6126480" y="3657600"/>
            <a:ext cx="256032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Text 10"/>
          <p:cNvSpPr/>
          <p:nvPr/>
        </p:nvSpPr>
        <p:spPr>
          <a:xfrm>
            <a:off x="6126480" y="3657600"/>
            <a:ext cx="256032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SA beats TPOT on</a:t>
            </a:r>
            <a:endParaRPr lang="en-US" sz="1100" dirty="0"/>
          </a:p>
        </p:txBody>
      </p:sp>
      <p:sp>
        <p:nvSpPr>
          <p:cNvPr id="14" name="Text 11"/>
          <p:cNvSpPr/>
          <p:nvPr/>
        </p:nvSpPr>
        <p:spPr>
          <a:xfrm>
            <a:off x="6126480" y="3977640"/>
            <a:ext cx="2560320" cy="411480"/>
          </a:xfrm>
          <a:prstGeom prst="rect">
            <a:avLst/>
          </a:prstGeom>
          <a:noFill/>
          <a:ln/>
        </p:spPr>
        <p:txBody>
          <a:bodyPr wrap="square" lIns="0" tIns="0" rIns="0" bIns="0" rtlCol="0" anchor="ctr"/>
          <a:lstStyle/>
          <a:p>
            <a:pPr marL="0" indent="0" algn="ctr">
              <a:buNone/>
            </a:pPr>
            <a:r>
              <a:rPr lang="en-US" sz="1600" b="1" dirty="0">
                <a:solidFill>
                  <a:srgbClr val="EA580C"/>
                </a:solidFill>
                <a:latin typeface="Calibri" pitchFamily="34" charset="0"/>
                <a:ea typeface="Calibri" pitchFamily="34" charset="-122"/>
                <a:cs typeface="Calibri" pitchFamily="34" charset="-120"/>
              </a:rPr>
              <a:t>Airbnb (RMSE)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20</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RMSE Comparison</a:t>
            </a:r>
            <a:endParaRPr lang="en-US" sz="2600" dirty="0"/>
          </a:p>
        </p:txBody>
      </p:sp>
      <p:pic>
        <p:nvPicPr>
          <p:cNvPr id="5" name="Image 0" descr="/sessions/gracious-practical-brahmagupta/mnt/Project 1/outputs/final_plots/nb_comparison_bars.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21</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Predicted vs. Actual Values</a:t>
            </a:r>
            <a:endParaRPr lang="en-US" sz="2600" dirty="0"/>
          </a:p>
        </p:txBody>
      </p:sp>
      <p:pic>
        <p:nvPicPr>
          <p:cNvPr id="5" name="Image 0" descr="/sessions/gracious-practical-brahmagupta/mnt/Project 1/outputs/final_plots/nb_pred_vs_actual.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22</a:t>
            </a:r>
            <a:endParaRPr lang="en-US" sz="900" dirty="0"/>
          </a:p>
        </p:txBody>
      </p:sp>
      <p:sp>
        <p:nvSpPr>
          <p:cNvPr id="4" name="Text 2"/>
          <p:cNvSpPr/>
          <p:nvPr/>
        </p:nvSpPr>
        <p:spPr>
          <a:xfrm>
            <a:off x="731520" y="182880"/>
            <a:ext cx="7680960" cy="548640"/>
          </a:xfrm>
          <a:prstGeom prst="rect">
            <a:avLst/>
          </a:prstGeom>
          <a:noFill/>
          <a:ln/>
        </p:spPr>
        <p:txBody>
          <a:bodyPr wrap="square" lIns="0" tIns="0" rIns="0" bIns="0"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Why Did FLAML Beat SA, and SA Beat TPOT?</a:t>
            </a:r>
            <a:endParaRPr lang="en-US" sz="2400" dirty="0"/>
          </a:p>
        </p:txBody>
      </p:sp>
      <p:sp>
        <p:nvSpPr>
          <p:cNvPr id="5" name="Shape 3"/>
          <p:cNvSpPr/>
          <p:nvPr/>
        </p:nvSpPr>
        <p:spPr>
          <a:xfrm>
            <a:off x="457200" y="868680"/>
            <a:ext cx="822960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457200" y="868680"/>
            <a:ext cx="64008" cy="1143000"/>
          </a:xfrm>
          <a:prstGeom prst="rect">
            <a:avLst/>
          </a:prstGeom>
          <a:solidFill>
            <a:srgbClr val="059669"/>
          </a:solidFill>
          <a:ln/>
        </p:spPr>
        <p:txBody>
          <a:bodyPr/>
          <a:lstStyle/>
          <a:p>
            <a:endParaRPr lang="en-US"/>
          </a:p>
        </p:txBody>
      </p:sp>
      <p:sp>
        <p:nvSpPr>
          <p:cNvPr id="7" name="Text 5"/>
          <p:cNvSpPr/>
          <p:nvPr/>
        </p:nvSpPr>
        <p:spPr>
          <a:xfrm>
            <a:off x="731520" y="914400"/>
            <a:ext cx="7315200" cy="274320"/>
          </a:xfrm>
          <a:prstGeom prst="rect">
            <a:avLst/>
          </a:prstGeom>
          <a:noFill/>
          <a:ln/>
        </p:spPr>
        <p:txBody>
          <a:bodyPr wrap="square" lIns="0" tIns="0" rIns="0" bIns="0"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FLAML wins (best RMSE)</a:t>
            </a:r>
            <a:endParaRPr lang="en-US" sz="1400" dirty="0"/>
          </a:p>
        </p:txBody>
      </p:sp>
      <p:sp>
        <p:nvSpPr>
          <p:cNvPr id="8" name="Text 6"/>
          <p:cNvSpPr/>
          <p:nvPr/>
        </p:nvSpPr>
        <p:spPr>
          <a:xfrm>
            <a:off x="731520" y="1188720"/>
            <a:ext cx="7772400" cy="7315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FLAML uses Cost-Frugal Optimization. It starts by quickly testing cheap models and then spends most of its budget fine-tuning the best one (XGBoost). This smart budget allocation means FLAML evaluates more promising configurations in the same 1 hour. It also has years of engineering behind its search strategy.</a:t>
            </a:r>
            <a:endParaRPr lang="en-US" sz="1100" dirty="0"/>
          </a:p>
        </p:txBody>
      </p:sp>
      <p:sp>
        <p:nvSpPr>
          <p:cNvPr id="9" name="Shape 7"/>
          <p:cNvSpPr/>
          <p:nvPr/>
        </p:nvSpPr>
        <p:spPr>
          <a:xfrm>
            <a:off x="457200" y="2148840"/>
            <a:ext cx="822960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457200" y="2148840"/>
            <a:ext cx="64008" cy="1143000"/>
          </a:xfrm>
          <a:prstGeom prst="rect">
            <a:avLst/>
          </a:prstGeom>
          <a:solidFill>
            <a:srgbClr val="065A82"/>
          </a:solidFill>
          <a:ln/>
        </p:spPr>
        <p:txBody>
          <a:bodyPr/>
          <a:lstStyle/>
          <a:p>
            <a:endParaRPr lang="en-US"/>
          </a:p>
        </p:txBody>
      </p:sp>
      <p:sp>
        <p:nvSpPr>
          <p:cNvPr id="11" name="Text 9"/>
          <p:cNvSpPr/>
          <p:nvPr/>
        </p:nvSpPr>
        <p:spPr>
          <a:xfrm>
            <a:off x="731520" y="2194560"/>
            <a:ext cx="7315200" cy="27432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SA comes close (within 1-2% of FLAML)</a:t>
            </a:r>
            <a:endParaRPr lang="en-US" sz="1400" dirty="0"/>
          </a:p>
        </p:txBody>
      </p:sp>
      <p:sp>
        <p:nvSpPr>
          <p:cNvPr id="12" name="Text 10"/>
          <p:cNvSpPr/>
          <p:nvPr/>
        </p:nvSpPr>
        <p:spPr>
          <a:xfrm>
            <a:off x="731520" y="2468880"/>
            <a:ext cx="7772400" cy="7315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Our custom SA explores the search space by randomly perturbing hyperparameters and occasionally switching algorithms. The reheat mechanism prevents getting stuck. However, SA treats all configurations equally. It doesn't learn which algorithm family is best, so it wastes some iterations on weaker models like KNN or Ridge.</a:t>
            </a:r>
            <a:endParaRPr lang="en-US" sz="1100" dirty="0"/>
          </a:p>
        </p:txBody>
      </p:sp>
      <p:sp>
        <p:nvSpPr>
          <p:cNvPr id="13" name="Shape 11"/>
          <p:cNvSpPr/>
          <p:nvPr/>
        </p:nvSpPr>
        <p:spPr>
          <a:xfrm>
            <a:off x="457200" y="3429000"/>
            <a:ext cx="8229600" cy="1143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457200" y="3429000"/>
            <a:ext cx="64008" cy="1143000"/>
          </a:xfrm>
          <a:prstGeom prst="rect">
            <a:avLst/>
          </a:prstGeom>
          <a:solidFill>
            <a:srgbClr val="EA580C"/>
          </a:solidFill>
          <a:ln/>
        </p:spPr>
        <p:txBody>
          <a:bodyPr/>
          <a:lstStyle/>
          <a:p>
            <a:endParaRPr lang="en-US"/>
          </a:p>
        </p:txBody>
      </p:sp>
      <p:sp>
        <p:nvSpPr>
          <p:cNvPr id="15" name="Text 13"/>
          <p:cNvSpPr/>
          <p:nvPr/>
        </p:nvSpPr>
        <p:spPr>
          <a:xfrm>
            <a:off x="731520" y="3474720"/>
            <a:ext cx="7315200" cy="274320"/>
          </a:xfrm>
          <a:prstGeom prst="rect">
            <a:avLst/>
          </a:prstGeom>
          <a:noFill/>
          <a:ln/>
        </p:spPr>
        <p:txBody>
          <a:bodyPr wrap="square" lIns="0" tIns="0" rIns="0" bIns="0" rtlCol="0" anchor="ctr"/>
          <a:lstStyle/>
          <a:p>
            <a:pPr marL="0" indent="0">
              <a:buNone/>
            </a:pPr>
            <a:r>
              <a:rPr lang="en-US" sz="1400" b="1" dirty="0">
                <a:solidFill>
                  <a:srgbClr val="EA580C"/>
                </a:solidFill>
                <a:latin typeface="Calibri" pitchFamily="34" charset="0"/>
                <a:ea typeface="Calibri" pitchFamily="34" charset="-122"/>
                <a:cs typeface="Calibri" pitchFamily="34" charset="-120"/>
              </a:rPr>
              <a:t>TPOT trails slightly (evolves pipelines, not just models)</a:t>
            </a:r>
            <a:endParaRPr lang="en-US" sz="1400" dirty="0"/>
          </a:p>
        </p:txBody>
      </p:sp>
      <p:sp>
        <p:nvSpPr>
          <p:cNvPr id="16" name="Text 14"/>
          <p:cNvSpPr/>
          <p:nvPr/>
        </p:nvSpPr>
        <p:spPr>
          <a:xfrm>
            <a:off x="731520" y="3749040"/>
            <a:ext cx="7772400" cy="7315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TPOT evolves entire pipelines (preprocessing + model), so it searches a much larger space. This is powerful but slower. Genetic programming needs many generations to converge. With only 3-fold CV (vs 5-fold for SA/FLAML) and a huge pipeline space, TPOT couldn't fully optimize in 1 hour. On Insurance, all methods are nearly tied since the dataset is small and easy.</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23</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Feature Importance — SA Best Models</a:t>
            </a:r>
            <a:endParaRPr lang="en-US" sz="2600" dirty="0"/>
          </a:p>
        </p:txBody>
      </p:sp>
      <p:pic>
        <p:nvPicPr>
          <p:cNvPr id="5" name="Image 0" descr="/sessions/gracious-practical-brahmagupta/mnt/Project 1/outputs/final_plots/feature_importance_sa.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6. Dataset Contrast</a:t>
            </a:r>
            <a:endParaRPr lang="en-US" sz="3600" dirty="0"/>
          </a:p>
        </p:txBody>
      </p:sp>
      <p:sp>
        <p:nvSpPr>
          <p:cNvPr id="4" name="Text 2"/>
          <p:cNvSpPr/>
          <p:nvPr/>
        </p:nvSpPr>
        <p:spPr>
          <a:xfrm>
            <a:off x="100584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How data characteristics affect AutoML performance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26</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Why Characteristics Matter</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268016267"/>
              </p:ext>
            </p:extLst>
          </p:nvPr>
        </p:nvGraphicFramePr>
        <p:xfrm>
          <a:off x="457200" y="1005840"/>
          <a:ext cx="8229600" cy="1828800"/>
        </p:xfrm>
        <a:graphic>
          <a:graphicData uri="http://schemas.openxmlformats.org/drawingml/2006/table">
            <a:tbl>
              <a:tblPr/>
              <a:tblGrid>
                <a:gridCol w="25603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0">
                <a:tc>
                  <a:txBody>
                    <a:bodyPr/>
                    <a:lstStyle/>
                    <a:p>
                      <a:pPr marL="0" indent="0">
                        <a:buNone/>
                      </a:pP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Airbnb</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Insurance</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~74K rows (large)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1,338 rows (small)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SA iterations in 1 hour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164 (slow per iter)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1,944,578 (fast per iter)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Missing data handling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Median imputation needed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None required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Feature space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71 (high-dim after OHE)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 (low-dim, focused)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Best R² (SA)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0.716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0.866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All methods within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~1.6% RMSE of each other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~0.5% RMSE of each other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3474720"/>
            <a:ext cx="8229600" cy="7315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Key insight: On Insurance (small, clean, strong signal), all methods converge to nearly identical performance — the dataset is 'easy' for tree-based models. On Airbnb (large, messy, many features), differences between methods are more pronounced.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27</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RMSE Improvement over Baseline</a:t>
            </a:r>
            <a:endParaRPr lang="en-US" sz="2600" dirty="0"/>
          </a:p>
        </p:txBody>
      </p:sp>
      <p:pic>
        <p:nvPicPr>
          <p:cNvPr id="5" name="Image 0" descr="/sessions/gracious-practical-brahmagupta/mnt/Project 1/outputs/final_plots/nb_improvement_vs_baseline.png"/>
          <p:cNvPicPr>
            <a:picLocks noChangeAspect="1"/>
          </p:cNvPicPr>
          <p:nvPr/>
        </p:nvPicPr>
        <p:blipFill>
          <a:blip r:embed="rId3"/>
          <a:srcRect/>
          <a:stretch/>
        </p:blipFill>
        <p:spPr>
          <a:xfrm>
            <a:off x="274320" y="914400"/>
            <a:ext cx="8595360" cy="38404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1828800"/>
            <a:ext cx="73152" cy="1280160"/>
          </a:xfrm>
          <a:prstGeom prst="rect">
            <a:avLst/>
          </a:prstGeom>
          <a:solidFill>
            <a:srgbClr val="1C7293"/>
          </a:solidFill>
          <a:ln/>
        </p:spPr>
        <p:txBody>
          <a:bodyPr/>
          <a:lstStyle/>
          <a:p>
            <a:endParaRPr lang="en-US"/>
          </a:p>
        </p:txBody>
      </p:sp>
      <p:sp>
        <p:nvSpPr>
          <p:cNvPr id="3" name="Text 1"/>
          <p:cNvSpPr/>
          <p:nvPr/>
        </p:nvSpPr>
        <p:spPr>
          <a:xfrm>
            <a:off x="1005840" y="18288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7. Conclusions &amp; Lessons Learned</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65A82"/>
          </a:solidFill>
          <a:ln/>
        </p:spPr>
        <p:txBody>
          <a:bodyPr/>
          <a:lstStyle/>
          <a:p>
            <a:endParaRPr lang="en-US"/>
          </a:p>
        </p:txBody>
      </p:sp>
      <p:sp>
        <p:nvSpPr>
          <p:cNvPr id="3" name="Text 1"/>
          <p:cNvSpPr/>
          <p:nvPr/>
        </p:nvSpPr>
        <p:spPr>
          <a:xfrm>
            <a:off x="8503920" y="4663440"/>
            <a:ext cx="457200" cy="320040"/>
          </a:xfrm>
          <a:prstGeom prst="rect">
            <a:avLst/>
          </a:prstGeom>
          <a:noFill/>
          <a:ln/>
        </p:spPr>
        <p:txBody>
          <a:bodyPr wrap="square" rtlCol="0" anchor="ctr"/>
          <a:lstStyle/>
          <a:p>
            <a:pPr marL="0" indent="0" algn="r">
              <a:buNone/>
            </a:pPr>
            <a:r>
              <a:rPr lang="en-US" sz="900" dirty="0">
                <a:solidFill>
                  <a:srgbClr val="64748B"/>
                </a:solidFill>
              </a:rPr>
              <a:t>29</a:t>
            </a:r>
            <a:endParaRPr lang="en-US" sz="900" dirty="0"/>
          </a:p>
        </p:txBody>
      </p:sp>
      <p:sp>
        <p:nvSpPr>
          <p:cNvPr id="4" name="Text 2"/>
          <p:cNvSpPr/>
          <p:nvPr/>
        </p:nvSpPr>
        <p:spPr>
          <a:xfrm>
            <a:off x="731520" y="274320"/>
            <a:ext cx="7315200" cy="54864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Key Takeaways</a:t>
            </a:r>
            <a:endParaRPr lang="en-US" sz="2800" dirty="0"/>
          </a:p>
        </p:txBody>
      </p:sp>
      <p:sp>
        <p:nvSpPr>
          <p:cNvPr id="5" name="Shape 3"/>
          <p:cNvSpPr/>
          <p:nvPr/>
        </p:nvSpPr>
        <p:spPr>
          <a:xfrm>
            <a:off x="731520" y="100584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731520" y="1005840"/>
            <a:ext cx="64008" cy="658368"/>
          </a:xfrm>
          <a:prstGeom prst="rect">
            <a:avLst/>
          </a:prstGeom>
          <a:solidFill>
            <a:srgbClr val="059669"/>
          </a:solidFill>
          <a:ln/>
        </p:spPr>
        <p:txBody>
          <a:bodyPr/>
          <a:lstStyle/>
          <a:p>
            <a:endParaRPr lang="en-US"/>
          </a:p>
        </p:txBody>
      </p:sp>
      <p:sp>
        <p:nvSpPr>
          <p:cNvPr id="7" name="Text 5"/>
          <p:cNvSpPr/>
          <p:nvPr/>
        </p:nvSpPr>
        <p:spPr>
          <a:xfrm>
            <a:off x="1005840" y="1051560"/>
            <a:ext cx="7223760" cy="256032"/>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Custom SA is competitive</a:t>
            </a:r>
            <a:endParaRPr lang="en-US" sz="1400" dirty="0"/>
          </a:p>
        </p:txBody>
      </p:sp>
      <p:sp>
        <p:nvSpPr>
          <p:cNvPr id="8" name="Text 6"/>
          <p:cNvSpPr/>
          <p:nvPr/>
        </p:nvSpPr>
        <p:spPr>
          <a:xfrm>
            <a:off x="1005840" y="130759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Within 1-2% RMSE of FLAML (state-of-the-art). Outperforms TPOT on Airbnb.</a:t>
            </a:r>
            <a:endParaRPr lang="en-US" sz="1100" dirty="0"/>
          </a:p>
        </p:txBody>
      </p:sp>
      <p:sp>
        <p:nvSpPr>
          <p:cNvPr id="9" name="Shape 7"/>
          <p:cNvSpPr/>
          <p:nvPr/>
        </p:nvSpPr>
        <p:spPr>
          <a:xfrm>
            <a:off x="731520" y="178308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731520" y="1783080"/>
            <a:ext cx="64008" cy="658368"/>
          </a:xfrm>
          <a:prstGeom prst="rect">
            <a:avLst/>
          </a:prstGeom>
          <a:solidFill>
            <a:srgbClr val="065A82"/>
          </a:solidFill>
          <a:ln/>
        </p:spPr>
        <p:txBody>
          <a:bodyPr/>
          <a:lstStyle/>
          <a:p>
            <a:endParaRPr lang="en-US"/>
          </a:p>
        </p:txBody>
      </p:sp>
      <p:sp>
        <p:nvSpPr>
          <p:cNvPr id="11" name="Text 9"/>
          <p:cNvSpPr/>
          <p:nvPr/>
        </p:nvSpPr>
        <p:spPr>
          <a:xfrm>
            <a:off x="1005840" y="1828800"/>
            <a:ext cx="7223760" cy="256032"/>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XGBoost dominates</a:t>
            </a:r>
            <a:endParaRPr lang="en-US" sz="1400" dirty="0"/>
          </a:p>
        </p:txBody>
      </p:sp>
      <p:sp>
        <p:nvSpPr>
          <p:cNvPr id="12" name="Text 10"/>
          <p:cNvSpPr/>
          <p:nvPr/>
        </p:nvSpPr>
        <p:spPr>
          <a:xfrm>
            <a:off x="1005840" y="208483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Selected as best model by SA, FLAML, and TPOT across both datasets. Gradient boosting is king for tabular data.</a:t>
            </a:r>
            <a:endParaRPr lang="en-US" sz="1100" dirty="0"/>
          </a:p>
        </p:txBody>
      </p:sp>
      <p:sp>
        <p:nvSpPr>
          <p:cNvPr id="13" name="Shape 11"/>
          <p:cNvSpPr/>
          <p:nvPr/>
        </p:nvSpPr>
        <p:spPr>
          <a:xfrm>
            <a:off x="731520" y="256032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731520" y="2560320"/>
            <a:ext cx="64008" cy="658368"/>
          </a:xfrm>
          <a:prstGeom prst="rect">
            <a:avLst/>
          </a:prstGeom>
          <a:solidFill>
            <a:srgbClr val="1C7293"/>
          </a:solidFill>
          <a:ln/>
        </p:spPr>
        <p:txBody>
          <a:bodyPr/>
          <a:lstStyle/>
          <a:p>
            <a:endParaRPr lang="en-US"/>
          </a:p>
        </p:txBody>
      </p:sp>
      <p:sp>
        <p:nvSpPr>
          <p:cNvPr id="15" name="Text 13"/>
          <p:cNvSpPr/>
          <p:nvPr/>
        </p:nvSpPr>
        <p:spPr>
          <a:xfrm>
            <a:off x="1005840" y="2606040"/>
            <a:ext cx="7223760" cy="256032"/>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Dataset size matters for SA</a:t>
            </a:r>
            <a:endParaRPr lang="en-US" sz="1400" dirty="0"/>
          </a:p>
        </p:txBody>
      </p:sp>
      <p:sp>
        <p:nvSpPr>
          <p:cNvPr id="16" name="Text 14"/>
          <p:cNvSpPr/>
          <p:nvPr/>
        </p:nvSpPr>
        <p:spPr>
          <a:xfrm>
            <a:off x="1005840" y="286207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Airbnb: 164 iters/hour (slow, large dataset). Insurance: 10,150 iters/hour (fast, small dataset). Time-based budgeting adapts automatically.</a:t>
            </a:r>
            <a:endParaRPr lang="en-US" sz="1100" dirty="0"/>
          </a:p>
        </p:txBody>
      </p:sp>
      <p:sp>
        <p:nvSpPr>
          <p:cNvPr id="17" name="Shape 15"/>
          <p:cNvSpPr/>
          <p:nvPr/>
        </p:nvSpPr>
        <p:spPr>
          <a:xfrm>
            <a:off x="731520" y="333756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731520" y="3337560"/>
            <a:ext cx="64008" cy="658368"/>
          </a:xfrm>
          <a:prstGeom prst="rect">
            <a:avLst/>
          </a:prstGeom>
          <a:solidFill>
            <a:srgbClr val="EA580C"/>
          </a:solidFill>
          <a:ln/>
        </p:spPr>
        <p:txBody>
          <a:bodyPr/>
          <a:lstStyle/>
          <a:p>
            <a:endParaRPr lang="en-US"/>
          </a:p>
        </p:txBody>
      </p:sp>
      <p:sp>
        <p:nvSpPr>
          <p:cNvPr id="19" name="Text 17"/>
          <p:cNvSpPr/>
          <p:nvPr/>
        </p:nvSpPr>
        <p:spPr>
          <a:xfrm>
            <a:off x="1005840" y="3383280"/>
            <a:ext cx="7223760" cy="256032"/>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TPOT adds preprocessing</a:t>
            </a:r>
            <a:endParaRPr lang="en-US" sz="1400" dirty="0"/>
          </a:p>
        </p:txBody>
      </p:sp>
      <p:sp>
        <p:nvSpPr>
          <p:cNvPr id="20" name="Text 18"/>
          <p:cNvSpPr/>
          <p:nvPr/>
        </p:nvSpPr>
        <p:spPr>
          <a:xfrm>
            <a:off x="1005840" y="363931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TPOT's strength is evolving full pipelines (scaling + feature selection + model). SA only tunes model+HP.</a:t>
            </a:r>
            <a:endParaRPr lang="en-US" sz="1100" dirty="0"/>
          </a:p>
        </p:txBody>
      </p:sp>
      <p:sp>
        <p:nvSpPr>
          <p:cNvPr id="21" name="Shape 19"/>
          <p:cNvSpPr/>
          <p:nvPr/>
        </p:nvSpPr>
        <p:spPr>
          <a:xfrm>
            <a:off x="731520" y="4114800"/>
            <a:ext cx="768096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20"/>
          <p:cNvSpPr/>
          <p:nvPr/>
        </p:nvSpPr>
        <p:spPr>
          <a:xfrm>
            <a:off x="731520" y="4114800"/>
            <a:ext cx="64008" cy="658368"/>
          </a:xfrm>
          <a:prstGeom prst="rect">
            <a:avLst/>
          </a:prstGeom>
          <a:solidFill>
            <a:srgbClr val="21295C"/>
          </a:solidFill>
          <a:ln/>
        </p:spPr>
        <p:txBody>
          <a:bodyPr/>
          <a:lstStyle/>
          <a:p>
            <a:endParaRPr lang="en-US"/>
          </a:p>
        </p:txBody>
      </p:sp>
      <p:sp>
        <p:nvSpPr>
          <p:cNvPr id="23" name="Text 21"/>
          <p:cNvSpPr/>
          <p:nvPr/>
        </p:nvSpPr>
        <p:spPr>
          <a:xfrm>
            <a:off x="1005840" y="4160520"/>
            <a:ext cx="7223760" cy="256032"/>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Reheat prevents stagnation</a:t>
            </a:r>
            <a:endParaRPr lang="en-US" sz="1400" dirty="0"/>
          </a:p>
        </p:txBody>
      </p:sp>
      <p:sp>
        <p:nvSpPr>
          <p:cNvPr id="24" name="Text 22"/>
          <p:cNvSpPr/>
          <p:nvPr/>
        </p:nvSpPr>
        <p:spPr>
          <a:xfrm>
            <a:off x="1005840" y="4416552"/>
            <a:ext cx="72237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SA with reheating used full time budget. Without it, SA stops after ~303 iterations.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5006340"/>
            <a:ext cx="9144000" cy="137160"/>
          </a:xfrm>
          <a:prstGeom prst="rect">
            <a:avLst/>
          </a:prstGeom>
          <a:solidFill>
            <a:srgbClr val="1C7293"/>
          </a:solidFill>
          <a:ln/>
        </p:spPr>
        <p:txBody>
          <a:bodyPr/>
          <a:lstStyle/>
          <a:p>
            <a:endParaRPr lang="en-US"/>
          </a:p>
        </p:txBody>
      </p:sp>
      <p:sp>
        <p:nvSpPr>
          <p:cNvPr id="3" name="Text 1"/>
          <p:cNvSpPr/>
          <p:nvPr/>
        </p:nvSpPr>
        <p:spPr>
          <a:xfrm>
            <a:off x="731520" y="1371600"/>
            <a:ext cx="768096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731520" y="2377440"/>
            <a:ext cx="7680960" cy="548640"/>
          </a:xfrm>
          <a:prstGeom prst="rect">
            <a:avLst/>
          </a:prstGeom>
          <a:noFill/>
          <a:ln/>
        </p:spPr>
        <p:txBody>
          <a:bodyPr wrap="square" lIns="0" tIns="0" rIns="0" bIns="0" rtlCol="0" anchor="ctr"/>
          <a:lstStyle/>
          <a:p>
            <a:pPr marL="0" indent="0" algn="ctr">
              <a:buNone/>
            </a:pPr>
            <a:r>
              <a:rPr lang="en-US" sz="2400" dirty="0">
                <a:solidFill>
                  <a:srgbClr val="1C7293"/>
                </a:solidFill>
                <a:latin typeface="Calibri" pitchFamily="34" charset="0"/>
                <a:ea typeface="Calibri" pitchFamily="34" charset="-122"/>
                <a:cs typeface="Calibri" pitchFamily="34" charset="-120"/>
              </a:rPr>
              <a:t>Questions?</a:t>
            </a:r>
            <a:endParaRPr lang="en-US" sz="2400" dirty="0"/>
          </a:p>
        </p:txBody>
      </p:sp>
      <p:sp>
        <p:nvSpPr>
          <p:cNvPr id="5" name="Shape 3"/>
          <p:cNvSpPr/>
          <p:nvPr/>
        </p:nvSpPr>
        <p:spPr>
          <a:xfrm>
            <a:off x="3200400" y="3200400"/>
            <a:ext cx="2743200" cy="0"/>
          </a:xfrm>
          <a:prstGeom prst="line">
            <a:avLst/>
          </a:prstGeom>
          <a:noFill/>
          <a:ln w="25400">
            <a:solidFill>
              <a:srgbClr val="1C7293"/>
            </a:solidFill>
            <a:prstDash val="solid"/>
          </a:ln>
        </p:spPr>
        <p:txBody>
          <a:bodyPr/>
          <a:lstStyle/>
          <a:p>
            <a:endParaRPr lang="en-US"/>
          </a:p>
        </p:txBody>
      </p:sp>
      <p:sp>
        <p:nvSpPr>
          <p:cNvPr id="6" name="Text 4"/>
          <p:cNvSpPr/>
          <p:nvPr/>
        </p:nvSpPr>
        <p:spPr>
          <a:xfrm>
            <a:off x="731520" y="3474720"/>
            <a:ext cx="7680960" cy="1097280"/>
          </a:xfrm>
          <a:prstGeom prst="rect">
            <a:avLst/>
          </a:prstGeom>
          <a:noFill/>
          <a:ln/>
        </p:spPr>
        <p:txBody>
          <a:bodyPr wrap="square" lIns="0" tIns="0" rIns="0" bIns="0" rtlCol="0" anchor="ctr"/>
          <a:lstStyle/>
          <a:p>
            <a:pPr marL="0" indent="0" algn="ctr">
              <a:buNone/>
            </a:pPr>
            <a:r>
              <a:rPr lang="en-US" sz="1400" b="1" dirty="0">
                <a:solidFill>
                  <a:srgbClr val="64748B"/>
                </a:solidFill>
                <a:latin typeface="Calibri" pitchFamily="34" charset="0"/>
                <a:ea typeface="Calibri" pitchFamily="34" charset="-122"/>
                <a:cs typeface="Calibri" pitchFamily="34" charset="-120"/>
              </a:rPr>
              <a:t>Ali Usama</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aaliusama@gmail.com</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DNDS5019 — Machine Learning (Advanced)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2037</Words>
  <Application>Microsoft Office PowerPoint</Application>
  <PresentationFormat>On-screen Show (16:9)</PresentationFormat>
  <Paragraphs>359</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AutoML for Regression: Custom SA vs FLAML &amp; TPOT</dc:title>
  <dc:subject>PptxGenJS Presentation</dc:subject>
  <dc:creator>Ali Usama</dc:creator>
  <cp:lastModifiedBy>Ali Usama</cp:lastModifiedBy>
  <cp:revision>2</cp:revision>
  <dcterms:created xsi:type="dcterms:W3CDTF">2026-03-02T00:52:56Z</dcterms:created>
  <dcterms:modified xsi:type="dcterms:W3CDTF">2026-03-02T01:52:11Z</dcterms:modified>
</cp:coreProperties>
</file>